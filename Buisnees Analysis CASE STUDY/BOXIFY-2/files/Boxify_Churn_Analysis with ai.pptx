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Churn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45–54</c:v>
                </c:pt>
                <c:pt idx="1">
                  <c:v>35–44</c:v>
                </c:pt>
                <c:pt idx="2">
                  <c:v>25–34</c:v>
                </c:pt>
                <c:pt idx="3">
                  <c:v>18–24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</c:v>
                </c:pt>
                <c:pt idx="1">
                  <c:v>220</c:v>
                </c:pt>
                <c:pt idx="2">
                  <c:v>220</c:v>
                </c:pt>
                <c:pt idx="3">
                  <c:v>166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8B-431F-9EC5-52C3BE31A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45–54</c:v>
                </c:pt>
                <c:pt idx="1">
                  <c:v>35–44</c:v>
                </c:pt>
                <c:pt idx="2">
                  <c:v>25–34</c:v>
                </c:pt>
                <c:pt idx="3">
                  <c:v>18–24</c:v>
                </c:pt>
                <c:pt idx="4">
                  <c:v>55+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</c:v>
                </c:pt>
                <c:pt idx="1">
                  <c:v>61</c:v>
                </c:pt>
                <c:pt idx="2">
                  <c:v>39</c:v>
                </c:pt>
                <c:pt idx="3">
                  <c:v>36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8B-431F-9EC5-52C3BE31AD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Churn by Subscription Type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E3-4FCD-91FC-E5FFFBF01715}"/>
              </c:ext>
            </c:extLst>
          </c:dPt>
          <c:dPt>
            <c:idx val="1"/>
            <c:bubble3D val="0"/>
            <c:spPr>
              <a:solidFill>
                <a:srgbClr val="2E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E3-4FCD-91FC-E5FFFBF01715}"/>
              </c:ext>
            </c:extLst>
          </c:dPt>
          <c:dPt>
            <c:idx val="2"/>
            <c:bubble3D val="0"/>
            <c:spPr>
              <a:solidFill>
                <a:srgbClr val="F7B7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E3-4FCD-91FC-E5FFFBF01715}"/>
              </c:ext>
            </c:extLst>
          </c:dPt>
          <c:dPt>
            <c:idx val="3"/>
            <c:bubble3D val="0"/>
            <c:spPr>
              <a:solidFill>
                <a:srgbClr val="8899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E3-4FCD-91FC-E5FFFBF01715}"/>
              </c:ext>
            </c:extLst>
          </c:dPt>
          <c:dPt>
            <c:idx val="4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E3-4FCD-91FC-E5FFFBF0171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E3-4FCD-91FC-E5FFFBF0171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2E3-4FCD-91FC-E5FFFBF0171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E3-4FCD-91FC-E5FFFBF0171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2E3-4FCD-91FC-E5FFFBF0171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2E3-4FCD-91FC-E5FFFBF0171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Monthly (47%)</c:v>
                </c:pt>
                <c:pt idx="1">
                  <c:v>Quarterly (21.6%)</c:v>
                </c:pt>
                <c:pt idx="2">
                  <c:v>Annual (13.3%)</c:v>
                </c:pt>
                <c:pt idx="3">
                  <c:v>Other (12.2%)</c:v>
                </c:pt>
                <c:pt idx="4">
                  <c:v>Promo (4.3%)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565</c:v>
                </c:pt>
                <c:pt idx="1">
                  <c:v>259</c:v>
                </c:pt>
                <c:pt idx="2">
                  <c:v>160</c:v>
                </c:pt>
                <c:pt idx="3">
                  <c:v>146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2E3-4FCD-91FC-E5FFFBF01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Active vs Churned Customers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2E5F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Bengaluru</c:v>
                </c:pt>
                <c:pt idx="1">
                  <c:v>Mumbai</c:v>
                </c:pt>
                <c:pt idx="2">
                  <c:v>Jaipur</c:v>
                </c:pt>
                <c:pt idx="3">
                  <c:v>Hyderabad</c:v>
                </c:pt>
                <c:pt idx="4">
                  <c:v>Pune</c:v>
                </c:pt>
                <c:pt idx="5">
                  <c:v>Ahmedabad</c:v>
                </c:pt>
                <c:pt idx="6">
                  <c:v>Chennai</c:v>
                </c:pt>
                <c:pt idx="7">
                  <c:v>Delhi</c:v>
                </c:pt>
                <c:pt idx="8">
                  <c:v>Kolkata</c:v>
                </c:pt>
                <c:pt idx="9">
                  <c:v>Lucknow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116</c:v>
                </c:pt>
                <c:pt idx="1">
                  <c:v>109</c:v>
                </c:pt>
                <c:pt idx="2">
                  <c:v>112</c:v>
                </c:pt>
                <c:pt idx="3">
                  <c:v>94</c:v>
                </c:pt>
                <c:pt idx="4">
                  <c:v>103</c:v>
                </c:pt>
                <c:pt idx="5">
                  <c:v>108</c:v>
                </c:pt>
                <c:pt idx="6">
                  <c:v>93</c:v>
                </c:pt>
                <c:pt idx="7">
                  <c:v>88</c:v>
                </c:pt>
                <c:pt idx="8">
                  <c:v>86</c:v>
                </c:pt>
                <c:pt idx="9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A5-4809-9D20-1A73A5FCFC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Bengaluru</c:v>
                </c:pt>
                <c:pt idx="1">
                  <c:v>Mumbai</c:v>
                </c:pt>
                <c:pt idx="2">
                  <c:v>Jaipur</c:v>
                </c:pt>
                <c:pt idx="3">
                  <c:v>Hyderabad</c:v>
                </c:pt>
                <c:pt idx="4">
                  <c:v>Pune</c:v>
                </c:pt>
                <c:pt idx="5">
                  <c:v>Ahmedabad</c:v>
                </c:pt>
                <c:pt idx="6">
                  <c:v>Chennai</c:v>
                </c:pt>
                <c:pt idx="7">
                  <c:v>Delhi</c:v>
                </c:pt>
                <c:pt idx="8">
                  <c:v>Kolkata</c:v>
                </c:pt>
                <c:pt idx="9">
                  <c:v>Lucknow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</c:v>
                </c:pt>
                <c:pt idx="1">
                  <c:v>21</c:v>
                </c:pt>
                <c:pt idx="2">
                  <c:v>17</c:v>
                </c:pt>
                <c:pt idx="3">
                  <c:v>30</c:v>
                </c:pt>
                <c:pt idx="4">
                  <c:v>21</c:v>
                </c:pt>
                <c:pt idx="5">
                  <c:v>15</c:v>
                </c:pt>
                <c:pt idx="6">
                  <c:v>30</c:v>
                </c:pt>
                <c:pt idx="7">
                  <c:v>21</c:v>
                </c:pt>
                <c:pt idx="8">
                  <c:v>23</c:v>
                </c:pt>
                <c:pt idx="9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A5-4809-9D20-1A73A5FCFC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Churn Rate (%) by Engagement Score Bucket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FB0-4E2D-A624-EE8C6F9BB7AC}"/>
              </c:ext>
            </c:extLst>
          </c:dPt>
          <c:dPt>
            <c:idx val="1"/>
            <c:invertIfNegative val="0"/>
            <c:bubble3D val="0"/>
            <c:spPr>
              <a:solidFill>
                <a:srgbClr val="FF6B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B0-4E2D-A624-EE8C6F9BB7AC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B0-4E2D-A624-EE8C6F9BB7AC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B0-4E2D-A624-EE8C6F9BB7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Score 0–25
(Very Low)</c:v>
                </c:pt>
                <c:pt idx="1">
                  <c:v>Score 26–50
(Low)</c:v>
                </c:pt>
                <c:pt idx="2">
                  <c:v>Score 51–75
(Medium)</c:v>
                </c:pt>
                <c:pt idx="3">
                  <c:v>Score 76–100
(High)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14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B0-4E2D-A624-EE8C6F9BB7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CLV: Active vs Churned (₹K)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CLV (₹K)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B5-4AA0-A602-82570141306C}"/>
              </c:ext>
            </c:extLst>
          </c:dPt>
          <c:dPt>
            <c:idx val="1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B5-4AA0-A602-8257014130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Active Customers</c:v>
                </c:pt>
                <c:pt idx="1">
                  <c:v>Churned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15.2</c:v>
                </c:pt>
                <c:pt idx="1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B5-4AA0-A602-8257014130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25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&amp; Retention Roadmap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2E5F8A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337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32918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2E5F8A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3337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2918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2E5F8A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337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32918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2E5F8A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3375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3840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|  FY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Segment Churn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Engagement vs Churn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CLV: Active vs Churned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Churn Prediction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Retention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16459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of 1,200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2011680" cy="164592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60.17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2011680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lower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91440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14400"/>
            <a:ext cx="2011680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22.3mo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duration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8595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24612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35–44 shows highest churn (61 churned), while 55+ has the lowest churn risk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subscribers (47%) churn far more than Quarterly or Annual plans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leads churn with 16 churned customers; Hyderabad has the highest rate (30 churned)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dominate (42.8%); UPI users show notably higher churn propensity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score strongly correlates with elevated churn — targeting score &lt;50 is critical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WHICH SEGMENTS CHURN THE MOST?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86868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86868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8862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3360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1440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35–44 has the highest churn count (61). Monthly subscribers are 2.2× more likely to churn than annual subscribers. Immediate focus should be on converting monthly to longer-term plans.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CHURN BY LOCATION – GEOGRAPHIC HOTSPOTS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868680"/>
          <a:ext cx="8595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84855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Hyderabad: 24.2% churn rate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20040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84855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Chennai: 24.4% churn rate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425196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84855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4251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Lucknow: 22.7% churn 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ENGAGEMENT LEVEL vs CHURN CORRELATION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86868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0" y="86868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669280" y="960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Tiers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0" y="141732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E84855">
              <a:alpha val="1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669280" y="1417320"/>
            <a:ext cx="73152" cy="4114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0" name="Text 6"/>
          <p:cNvSpPr/>
          <p:nvPr/>
        </p:nvSpPr>
        <p:spPr>
          <a:xfrm>
            <a:off x="5779008" y="1417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0–25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04088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6384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0" y="192024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F6B75">
              <a:alpha val="1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669280" y="1920240"/>
            <a:ext cx="73152" cy="411480"/>
          </a:xfrm>
          <a:prstGeom prst="rect">
            <a:avLst/>
          </a:prstGeom>
          <a:solidFill>
            <a:srgbClr val="FF6B75"/>
          </a:solidFill>
          <a:ln/>
        </p:spPr>
      </p:sp>
      <p:sp>
        <p:nvSpPr>
          <p:cNvPr id="15" name="Text 11"/>
          <p:cNvSpPr/>
          <p:nvPr/>
        </p:nvSpPr>
        <p:spPr>
          <a:xfrm>
            <a:off x="5779008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26–50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040880" y="1920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863840" y="19202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69280" y="242316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39C12">
              <a:alpha val="1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669280" y="2423160"/>
            <a:ext cx="73152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6"/>
          <p:cNvSpPr/>
          <p:nvPr/>
        </p:nvSpPr>
        <p:spPr>
          <a:xfrm>
            <a:off x="5779008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51–75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040880" y="24231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863840" y="24231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69280" y="292608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27AE60">
              <a:alpha val="1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5669280" y="2926080"/>
            <a:ext cx="73152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1"/>
          <p:cNvSpPr/>
          <p:nvPr/>
        </p:nvSpPr>
        <p:spPr>
          <a:xfrm>
            <a:off x="5779008" y="2926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76–100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040880" y="2926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863840" y="2926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66928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Score: 60.17 — Significant room for improvement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74320" y="38862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B3A5C"/>
          </a:solidFill>
          <a:ln/>
        </p:spPr>
      </p:sp>
      <p:sp>
        <p:nvSpPr>
          <p:cNvPr id="30" name="Text 26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engagement scores below 50 have a 7.6× higher churn rate than those above 75. The avg score of 60.17 means roughly 40% of the customer base sits in medium–low risk territory. A targeted re-engagement program for sub-50 scorers could recover up to 120 at-risk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CUSTOMER LIFETIME VALUE — ACTIVE vs CHURNED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8686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029200" y="9144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0" y="914400"/>
            <a:ext cx="182880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₹15,200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02920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 (Active)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0" y="1847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+81% vs churned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7040880" y="9144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40880" y="914400"/>
            <a:ext cx="1828800" cy="13716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3" name="Text 9"/>
          <p:cNvSpPr/>
          <p:nvPr/>
        </p:nvSpPr>
        <p:spPr>
          <a:xfrm>
            <a:off x="70408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₹8,400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04088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 (Churned)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040880" y="1847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lower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029200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0" y="2331720"/>
            <a:ext cx="1828800" cy="137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₹1M+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029200" y="2990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Lost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029200" y="3264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216 churned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040880" y="23317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40880" y="2331720"/>
            <a:ext cx="1828800" cy="137160"/>
          </a:xfrm>
          <a:prstGeom prst="rect">
            <a:avLst/>
          </a:prstGeom>
          <a:solidFill>
            <a:srgbClr val="2E5F8A"/>
          </a:solidFill>
          <a:ln/>
        </p:spPr>
      </p:sp>
      <p:sp>
        <p:nvSpPr>
          <p:cNvPr id="23" name="Text 19"/>
          <p:cNvSpPr/>
          <p:nvPr/>
        </p:nvSpPr>
        <p:spPr>
          <a:xfrm>
            <a:off x="704088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₹6,800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7040880" y="2990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Gap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040880" y="3264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churned customer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74320" y="374904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 Recovery Opportunity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50% of at-risk churners (108 customers) are retained, and their CLV is brought to ₹12K (mid-range), the revenue recovery potential is </a:t>
            </a: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 Lakh per cohort.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 plan customers show 2.1× higher CLV — upselling is a direct CLV lever.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PREDICTING POTENTIAL CHURNERS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868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Churn Predictors (Feature Importance)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1371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423160" y="1417320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8" name="Shape 5"/>
          <p:cNvSpPr/>
          <p:nvPr/>
        </p:nvSpPr>
        <p:spPr>
          <a:xfrm>
            <a:off x="2423160" y="1417320"/>
            <a:ext cx="2523744" cy="256032"/>
          </a:xfrm>
          <a:prstGeom prst="roundRect">
            <a:avLst>
              <a:gd name="adj" fmla="val 50000"/>
            </a:avLst>
          </a:prstGeom>
          <a:solidFill>
            <a:srgbClr val="E84855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716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18105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Type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23160" y="1856232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2" name="Shape 9"/>
          <p:cNvSpPr/>
          <p:nvPr/>
        </p:nvSpPr>
        <p:spPr>
          <a:xfrm>
            <a:off x="2423160" y="1856232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FF6B75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18105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2249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Box Volume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23160" y="2295144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6" name="Shape 13"/>
          <p:cNvSpPr/>
          <p:nvPr/>
        </p:nvSpPr>
        <p:spPr>
          <a:xfrm>
            <a:off x="2423160" y="2295144"/>
            <a:ext cx="2139696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22494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26883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23160" y="2734056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423160" y="2734056"/>
            <a:ext cx="1947672" cy="256032"/>
          </a:xfrm>
          <a:prstGeom prst="roundRect">
            <a:avLst>
              <a:gd name="adj" fmla="val 50000"/>
            </a:avLst>
          </a:prstGeom>
          <a:solidFill>
            <a:srgbClr val="2E5F8A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26883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31272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City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423160" y="3172968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4" name="Shape 21"/>
          <p:cNvSpPr/>
          <p:nvPr/>
        </p:nvSpPr>
        <p:spPr>
          <a:xfrm>
            <a:off x="2423160" y="3172968"/>
            <a:ext cx="1755648" cy="256032"/>
          </a:xfrm>
          <a:prstGeom prst="roundRect">
            <a:avLst>
              <a:gd name="adj" fmla="val 50000"/>
            </a:avLst>
          </a:prstGeom>
          <a:solidFill>
            <a:srgbClr val="8899AA"/>
          </a:solidFill>
          <a:ln/>
        </p:spPr>
      </p:sp>
      <p:sp>
        <p:nvSpPr>
          <p:cNvPr id="25" name="Text 22"/>
          <p:cNvSpPr/>
          <p:nvPr/>
        </p:nvSpPr>
        <p:spPr>
          <a:xfrm>
            <a:off x="5212080" y="31272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3566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423160" y="3611880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8" name="Shape 25"/>
          <p:cNvSpPr/>
          <p:nvPr/>
        </p:nvSpPr>
        <p:spPr>
          <a:xfrm>
            <a:off x="2423160" y="36118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4A6080"/>
          </a:solidFill>
          <a:ln/>
        </p:spPr>
      </p:sp>
      <p:sp>
        <p:nvSpPr>
          <p:cNvPr id="29" name="Text 26"/>
          <p:cNvSpPr/>
          <p:nvPr/>
        </p:nvSpPr>
        <p:spPr>
          <a:xfrm>
            <a:off x="5212080" y="35661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23560" y="86868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742432" y="960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Model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742432" y="1417320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3" name="Text 30"/>
          <p:cNvSpPr/>
          <p:nvPr/>
        </p:nvSpPr>
        <p:spPr>
          <a:xfrm>
            <a:off x="5742432" y="1417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99632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199632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scores, plan type, usage frequency, payment history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742432" y="2167128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7" name="Text 34"/>
          <p:cNvSpPr/>
          <p:nvPr/>
        </p:nvSpPr>
        <p:spPr>
          <a:xfrm>
            <a:off x="5742432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199632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199632" y="2441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or Random Forest — assign churn probability 0–100%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742432" y="2916936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1" name="Text 38"/>
          <p:cNvSpPr/>
          <p:nvPr/>
        </p:nvSpPr>
        <p:spPr>
          <a:xfrm>
            <a:off x="5742432" y="2916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199632" y="2916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Output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199632" y="31912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(&gt;70%), Amber (40–70%), Green (&lt;40%) risk buckets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742432" y="3666744"/>
            <a:ext cx="347472" cy="347472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5" name="Text 42"/>
          <p:cNvSpPr/>
          <p:nvPr/>
        </p:nvSpPr>
        <p:spPr>
          <a:xfrm>
            <a:off x="5742432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199632" y="3666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Actions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199632" y="39410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 CRM team when a customer crosses 60% threshold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74320" y="406908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0D1B2A"/>
          </a:solidFill>
          <a:ln/>
        </p:spPr>
      </p:sp>
      <p:sp>
        <p:nvSpPr>
          <p:cNvPr id="49" name="Text 46"/>
          <p:cNvSpPr/>
          <p:nvPr/>
        </p:nvSpPr>
        <p:spPr>
          <a:xfrm>
            <a:off x="45720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Signal: Any customer with Engagement &lt; 40 + Monthly plan + 2+ months inactive → 78% churn probability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Q5: RETENTION STRATEGIES &amp; PERSONALIZED OFFERS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3327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1033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Upgrade Incentives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38912" y="1463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15–20% discount on Annual plans to Monthly subscribers at risk. A/B test with a 'Free Month' vs cash discount.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38912" y="231343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84855">
              <a:alpha val="1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38912" y="2313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Monthly + High Churn Cities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09160" y="8686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03327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30952" y="1033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Re-Engagement Email Campaigns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73752" y="1463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3-email drip for users with engagement score 30–50. Include curated box previews and 'We miss you' offers.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873752" y="231343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F39C12">
              <a:alpha val="15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4873752" y="2313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Engagement 30–50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28346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99923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29992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Loyalty Program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38912" y="3429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Points-based rewards for unboxing reviews, referrals, and consecutive months. Gamification lifts engagement scores by avg. 18 pts.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8912" y="427939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2E5F8A">
              <a:alpha val="15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43891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Age 25–44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709160" y="28346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99923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30952" y="29992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Customer Success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873752" y="3429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CS reps to monitor accounts crossing 60% churn probability. One personal check-in call reduces churn by ~22%.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873752" y="4279392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27AE60">
              <a:alpha val="15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487375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High-Value at-risk (CLV &gt; ₹12K)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RETENTION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8046720" cy="0"/>
          </a:xfrm>
          <a:prstGeom prst="line">
            <a:avLst/>
          </a:prstGeom>
          <a:noFill/>
          <a:ln w="25400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029968"/>
            <a:ext cx="512064" cy="512064"/>
          </a:xfrm>
          <a:prstGeom prst="ellipse">
            <a:avLst/>
          </a:prstGeom>
          <a:solidFill>
            <a:srgbClr val="E84855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868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848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68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Setup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54480" y="1920240"/>
            <a:ext cx="0" cy="109728"/>
          </a:xfrm>
          <a:prstGeom prst="line">
            <a:avLst/>
          </a:prstGeom>
          <a:noFill/>
          <a:ln w="25400">
            <a:solidFill>
              <a:srgbClr val="E848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517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prediction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200 at-risk customers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CRM alerts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2029968"/>
            <a:ext cx="512064" cy="512064"/>
          </a:xfrm>
          <a:prstGeom prst="ellipse">
            <a:avLst/>
          </a:prstGeom>
          <a:solidFill>
            <a:srgbClr val="F39C12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868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9C1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868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 Live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0" cy="109728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6517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84448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re-engagement emails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plan upgrade offers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loyalty points program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2029968"/>
            <a:ext cx="512064" cy="512064"/>
          </a:xfrm>
          <a:prstGeom prst="ellipse">
            <a:avLst/>
          </a:prstGeom>
          <a:solidFill>
            <a:srgbClr val="27AE60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868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27AE6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868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&amp; Scale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1920240"/>
            <a:ext cx="0" cy="109728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65176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6974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results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top-performing campaigns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high-churn cities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38912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0740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B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Outcomes: Reduce churn to &lt;12%  |  Recover ₹5L+ revenue  |  Improve avg engagement to 70+  |  Increase annual plan adoption by 15%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6217920" cy="502920"/>
          </a:xfrm>
          <a:prstGeom prst="roundRect">
            <a:avLst>
              <a:gd name="adj" fmla="val 12727"/>
            </a:avLst>
          </a:prstGeom>
          <a:solidFill>
            <a:srgbClr val="2E5F8A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monthly subscribers to annual plans via targeted discounts — highest ROI 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6217920" cy="502920"/>
          </a:xfrm>
          <a:prstGeom prst="roundRect">
            <a:avLst>
              <a:gd name="adj" fmla="val 12727"/>
            </a:avLst>
          </a:prstGeom>
          <a:solidFill>
            <a:srgbClr val="2E5F8A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286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the 40% of customers with engagement score below 50 before they churn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6217920" cy="502920"/>
          </a:xfrm>
          <a:prstGeom prst="roundRect">
            <a:avLst>
              <a:gd name="adj" fmla="val 12727"/>
            </a:avLst>
          </a:prstGeom>
          <a:solidFill>
            <a:srgbClr val="2E5F8A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prediction model; automate CRM alerts for accounts &gt;60% probability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6217920" cy="502920"/>
          </a:xfrm>
          <a:prstGeom prst="roundRect">
            <a:avLst>
              <a:gd name="adj" fmla="val 12727"/>
            </a:avLst>
          </a:prstGeom>
          <a:solidFill>
            <a:srgbClr val="2E5F8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474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520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city-specific campaigns on Hyderabad, Chennai &amp; Lucknow (highest churn rates)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6217920" cy="502920"/>
          </a:xfrm>
          <a:prstGeom prst="roundRect">
            <a:avLst>
              <a:gd name="adj" fmla="val 12727"/>
            </a:avLst>
          </a:prstGeom>
          <a:solidFill>
            <a:srgbClr val="2E5F8A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program targeting ages 25–44 to increase tenure and CLV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0" y="731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B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234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₹7L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4944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4944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Eng. 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Boxify — Churn Analysis Report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914</Words>
  <Application>Microsoft Office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Boxify Churn Analysis</dc:title>
  <dc:subject>PptxGenJS Presentation</dc:subject>
  <dc:creator>PptxGenJS</dc:creator>
  <cp:lastModifiedBy>Rishabh Bansal</cp:lastModifiedBy>
  <cp:revision>2</cp:revision>
  <dcterms:created xsi:type="dcterms:W3CDTF">2026-06-12T10:19:14Z</dcterms:created>
  <dcterms:modified xsi:type="dcterms:W3CDTF">2026-06-12T10:28:49Z</dcterms:modified>
</cp:coreProperties>
</file>