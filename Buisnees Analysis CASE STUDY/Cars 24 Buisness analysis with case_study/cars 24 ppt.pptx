
<file path=[Content_Types].xml><?xml version="1.0" encoding="utf-8"?>
<Types xmlns="http://schemas.openxmlformats.org/package/2006/content-types">
  <Default Extension="0&amp;ixid=M3wxMjA3fDB8MHxzZWFyY2h8MXx8Y2FyJTIwYmFja2dyb3VuZHxlbnwwfHwwfHx8MA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4B8-8C99-42AD-B199-B627883AF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E5ECE-FA55-6BDE-E34B-6D56897DB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DFFFF-52B9-D260-AAA1-D66EE594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DC9D-348D-691A-D283-FD99BA26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BBC63-40A6-3A95-1E8B-2F992C5EC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17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FCB8-3C71-335B-04FB-4A86190A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67750-263B-0424-A887-B2616CCF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8CBCB-20B2-FCF6-6B4A-50A50BA7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BFA8D-0F68-DAF7-D880-10A1EBC2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E8B9-5803-F5F9-D17A-976E165B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62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169B-3F70-A062-BEE7-463BD7D6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DEE6A-11E6-D56A-8CE6-05D2284D3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9C1F-615A-B4C9-0D06-3CAA1EAF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40A27-A05D-6F3A-EF0A-1BF97237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B040-CF6C-2270-66E9-788F19A0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9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6957-A3B2-6CD8-E9AE-64D905C7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9D5F-4DF9-4816-F996-A4B363446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CA912-52F5-A499-70FA-FA6FF7149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7EF83-7B66-EACB-BD76-85357DF6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D8535-64B8-377B-55F1-9DF31EFD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CD80E-675A-6A46-5903-C3DB2269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5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742D-0EF3-8AC8-2466-1AF2AEE0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1BCDE-B496-70FF-7E60-40A52A1C2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F2658-7279-0384-FFF7-743460FF6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A4E91-876F-BEFB-CA3D-240467C62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5DA9C-565A-078A-635D-B9FE1E4A4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6CE3E-C1B6-520A-EB95-94D20582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E9FF2-693A-7E9A-7D5B-E4EEFA83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15A42-1085-93D7-E3AC-502F0570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48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012B-043F-C259-8140-75DC1AA8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E1486-7899-C159-8621-B98BB6E8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9E993-0916-2462-9EC6-08E1CBE3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C50C9-CCC3-B640-BA80-6BD4084F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3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53C0D-C4EB-8EFF-3472-F34A137D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88033-FAEC-FF41-F6FC-A0977430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5233D-4526-9F5F-27BC-274C5FDC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4B9C-6E18-4BF1-16CE-DA1518E2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802-80AA-0DB6-B744-C2B0AC834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BD367-5D77-A448-8549-C3336BA62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2DCC1-B8D7-A7D3-CA01-AF482F792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D3CD4-4F7B-FC69-DA62-E7670C9C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F4DF0-A436-B3AC-5AB7-818CDF0B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08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B233-5A2C-58F7-FBBD-D5C587F8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1F1E5-8A47-2FD1-0BFC-DD796C0FD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A435E-C834-FF54-8D68-EC6FE59EB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D481F-0B90-F06F-839A-9CF1CE92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396CA-370F-C34D-4A86-897B6CB0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FCD14-07A7-D3C4-C874-3D241839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44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6F7E7-21A1-E5F2-3E9E-6A4A75E8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15BF0-9C05-E6DA-F94B-094722376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2A959-9C75-DCB4-091E-65BD3D5D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F76BE-51C7-245F-40FC-E18E88FA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9A29-F0F2-73A6-880C-2279ED2A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4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673BA-771D-A988-3F90-A8BDA5259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74B70-33CF-A1EB-3E4D-B5C29BA8F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8250-B8F1-0626-DEAC-C72EE36D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1FDE6-53DA-E44D-6C87-28C72916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9FCD2-F896-1CB7-8F53-B85A18A3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8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ED8D1-FA90-DC67-43E6-FCE4483D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797BD-DB11-08B0-3557-1F5E451C0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517B-E25B-4FCF-B6D9-3DE8EF07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DBC23-74ED-4F70-B2A3-67AE5F7C66C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5A42-BA34-52D3-F877-17DEA80C4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4EE6B-2097-BB27-E1F7-7DA9AE988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86441-B48E-4B82-B96C-757E58AE3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9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0&amp;ixid=M3wxMjA3fDB8MHxzZWFyY2h8MXx8Y2FyJTIwYmFja2dyb3VuZHxlbnwwfHwwfHx8MA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0&amp;ixid=M3wxMjA3fDB8MHxzZWFyY2h8MXx8Y2FyJTIwYmFja2dyb3VuZHxlbnwwfHwwfHx8MA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889F-6AA8-E9FA-202C-0B7EFA34A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16AAA-953A-99CB-33C4-132ADE06C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HD &amp; 4K Downloads on Unsplash">
            <a:extLst>
              <a:ext uri="{FF2B5EF4-FFF2-40B4-BE49-F238E27FC236}">
                <a16:creationId xmlns:a16="http://schemas.microsoft.com/office/drawing/2014/main" id="{7210374A-F947-A88C-D1A7-F265D3C40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545" y="-257082"/>
            <a:ext cx="12481089" cy="7372163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25BD7C1-6C35-52EF-2F65-8CCFEAEF5DEB}"/>
              </a:ext>
            </a:extLst>
          </p:cNvPr>
          <p:cNvSpPr/>
          <p:nvPr/>
        </p:nvSpPr>
        <p:spPr>
          <a:xfrm>
            <a:off x="548640" y="1864678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CARS24: A Data-Driven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Study</a:t>
            </a:r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90410B-F1B8-0A39-2F31-1B6B87152B6E}"/>
              </a:ext>
            </a:extLst>
          </p:cNvPr>
          <p:cNvSpPr/>
          <p:nvPr/>
        </p:nvSpPr>
        <p:spPr>
          <a:xfrm>
            <a:off x="655320" y="3509963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Bansal | Data Analyst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1476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9BA4-E5D0-8F6C-D252-6C871504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0B6A-4FF8-734F-B4B4-6F5D8EC4C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B8F1F922-F75A-6CCD-8AC5-6BB4D4397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15747"/>
            <a:ext cx="12271569" cy="7072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09337E-5F8F-8F9F-42B9-E22CC2C39493}"/>
              </a:ext>
            </a:extLst>
          </p:cNvPr>
          <p:cNvSpPr txBox="1"/>
          <p:nvPr/>
        </p:nvSpPr>
        <p:spPr>
          <a:xfrm>
            <a:off x="355600" y="1981200"/>
            <a:ext cx="1039393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CARS24 operates in the highly competitive used-car market where pricing, inventory planning, and customer </a:t>
            </a:r>
          </a:p>
          <a:p>
            <a:r>
              <a:rPr lang="en-IN" dirty="0">
                <a:solidFill>
                  <a:schemeClr val="bg1"/>
                </a:solidFill>
              </a:rPr>
              <a:t>demand vary significantly across brands, fuel types, ownership history, and vehicle specifications.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The business wanted to answer: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Which brands generate the highest revenue?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Which car segments should receive higher inventory investment?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What factors influence selling price?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Which customer segments dominate the used-car market?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How should inventory be optimized to maximize profitability?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414C1-332C-B303-C0B0-E7DC632E17D8}"/>
              </a:ext>
            </a:extLst>
          </p:cNvPr>
          <p:cNvSpPr txBox="1"/>
          <p:nvPr/>
        </p:nvSpPr>
        <p:spPr>
          <a:xfrm>
            <a:off x="355600" y="767358"/>
            <a:ext cx="4773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Understanding Business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34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1AF9-C4C0-D6D8-01BF-E66BE850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8015-C46E-F90A-5897-92F3D3E9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031F3-8C82-C3B0-5347-8F53EAC52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0AE0546C-EF7F-1577-983C-E7512ADC0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15747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870C7AE-2FD9-641C-CE44-E3EB4203D5FF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8D125-78C1-E568-E8FE-CB693F1C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69" b="88825"/>
          <a:stretch>
            <a:fillRect/>
          </a:stretch>
        </p:blipFill>
        <p:spPr>
          <a:xfrm>
            <a:off x="3380070" y="1408811"/>
            <a:ext cx="5154330" cy="894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D8FAE1-E05F-1DE5-BE60-F8BE62FF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94" t="1065" r="19" b="87760"/>
          <a:stretch>
            <a:fillRect/>
          </a:stretch>
        </p:blipFill>
        <p:spPr>
          <a:xfrm>
            <a:off x="2278014" y="2525442"/>
            <a:ext cx="7475585" cy="100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5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0EFC-FCA6-9BF9-FFBB-9549C1B9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6DDE-8525-DF26-D09A-486AD0C8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0910-40C1-A689-5837-04D69AAA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DD1F8ECD-0143-F7CD-52C1-1083A13C1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9110C1B-D42D-4B72-4F05-D24B347B317F}"/>
              </a:ext>
            </a:extLst>
          </p:cNvPr>
          <p:cNvSpPr/>
          <p:nvPr/>
        </p:nvSpPr>
        <p:spPr>
          <a:xfrm>
            <a:off x="274320" y="360997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COMPOSITION : Mass-Market Brands Drive Volume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710B3-80C9-0312-1F16-8B09A1BEE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39" t="14301" r="2409" b="287"/>
          <a:stretch>
            <a:fillRect/>
          </a:stretch>
        </p:blipFill>
        <p:spPr>
          <a:xfrm rot="16200000">
            <a:off x="2109303" y="-341231"/>
            <a:ext cx="3352801" cy="6385713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83339B2D-4D13-2D6F-FBF2-F378785241BB}"/>
              </a:ext>
            </a:extLst>
          </p:cNvPr>
          <p:cNvSpPr/>
          <p:nvPr/>
        </p:nvSpPr>
        <p:spPr>
          <a:xfrm>
            <a:off x="7977712" y="1316900"/>
            <a:ext cx="3815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(2,452) and Hyundai (1,419) alone account for 47% of all listings — the mass-market resale backbone.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4 brands (Maruti, Hyundai, Mahindra, Tata) are all domestic marques, together forming over half the inventory.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of 28+ brands (BMW, Jaguar, Lexus, etc.) contributes volume in the single-to-triple digits — niche, high-value supply.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5935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65D8-A1F9-55AA-A4B8-E27ACBF7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ED7B-0277-96EB-F911-87B5747E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05FAF-5630-4308-CC20-BAA50C26A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4CE107DC-5B20-AF6F-8108-7524921C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709CC6A-85FC-34CD-C4A8-95D443CE81AA}"/>
              </a:ext>
            </a:extLst>
          </p:cNvPr>
          <p:cNvSpPr/>
          <p:nvPr/>
        </p:nvSpPr>
        <p:spPr>
          <a:xfrm>
            <a:off x="274320" y="360997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: Volume Still Wins on Total Value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2BB3BCD-050F-74BB-ED41-FB5BCF84D2F9}"/>
              </a:ext>
            </a:extLst>
          </p:cNvPr>
          <p:cNvSpPr/>
          <p:nvPr/>
        </p:nvSpPr>
        <p:spPr>
          <a:xfrm>
            <a:off x="7977712" y="1316900"/>
            <a:ext cx="3815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  <a:p>
            <a:pPr marL="177800" indent="-177800">
              <a:lnSpc>
                <a:spcPts val="18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generates the single largest revenue pool (₹988M) purely on volume, despite a modest per-unit average price.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8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ranks #3 in total revenue (₹499M) from just 121 units — the highest revenue-per-car ratio of any major brand.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8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strategy emerges: scale economics on domestic brands, margin economics on premium imports.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FBB71-142F-88BE-8C93-CCCEAE14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882" r="2344" b="48776"/>
          <a:stretch>
            <a:fillRect/>
          </a:stretch>
        </p:blipFill>
        <p:spPr>
          <a:xfrm>
            <a:off x="399208" y="1422468"/>
            <a:ext cx="7139512" cy="525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5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0FDC-B448-0A9E-47F9-95FF1EE7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1C5A-4644-DCE4-D1BD-B25F4006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AD5D5-CA7E-EDB0-13BE-8E24D64F7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18774309-D3F6-A507-1D32-FCEA3BFBA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E2A9709F-B0E0-F012-2B15-1F1F0E92B95E}"/>
              </a:ext>
            </a:extLst>
          </p:cNvPr>
          <p:cNvSpPr/>
          <p:nvPr/>
        </p:nvSpPr>
        <p:spPr>
          <a:xfrm>
            <a:off x="274320" y="360997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INSIGHT: Luxury Imports Command a Price Premium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94EA51F-34B7-0BD8-263C-751B79610A0F}"/>
              </a:ext>
            </a:extLst>
          </p:cNvPr>
          <p:cNvSpPr/>
          <p:nvPr/>
        </p:nvSpPr>
        <p:spPr>
          <a:xfrm>
            <a:off x="7977712" y="1316900"/>
            <a:ext cx="3815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ts val="18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with the lowest sales volume (Volvo, BMW, Mercedes) post the highest average selling prices — up to 17× the mass-market average —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distinct premium resale segment.</a:t>
            </a:r>
          </a:p>
          <a:p>
            <a:pPr marL="177800" indent="-177800">
              <a:lnSpc>
                <a:spcPts val="18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luxury SUVs and sedans (BMW, Volvo, Audi, Mercedes-Benz) — the true ceiling of the resale market.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2CEC70-A98D-EC22-C808-B99123AE92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1" t="991" r="51312" b="48009"/>
          <a:stretch>
            <a:fillRect/>
          </a:stretch>
        </p:blipFill>
        <p:spPr>
          <a:xfrm>
            <a:off x="399208" y="1072982"/>
            <a:ext cx="4508072" cy="2836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4DC92-52E6-DEF6-F7F4-014BE8A7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5" t="13345" r="34405" b="42082"/>
          <a:stretch>
            <a:fillRect/>
          </a:stretch>
        </p:blipFill>
        <p:spPr>
          <a:xfrm>
            <a:off x="399208" y="4001294"/>
            <a:ext cx="6090727" cy="282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9C5A-3E05-AC5B-33D7-4B0A6961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B716-A10E-4D30-F1D6-4628CD0C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EBC84-9EAD-6536-5761-74BAB9C55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3E4F1207-0B60-CB43-25C9-B74AFD79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56788A81-6F44-F67A-7E27-4F3434B7D85B}"/>
              </a:ext>
            </a:extLst>
          </p:cNvPr>
          <p:cNvSpPr/>
          <p:nvPr/>
        </p:nvSpPr>
        <p:spPr>
          <a:xfrm>
            <a:off x="274320" y="360997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PROFILE : Fuel Type &amp; Transmission Mix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6BD994F-4991-7E7D-5F86-50C1DDA9DD6B}"/>
              </a:ext>
            </a:extLst>
          </p:cNvPr>
          <p:cNvSpPr/>
          <p:nvPr/>
        </p:nvSpPr>
        <p:spPr>
          <a:xfrm>
            <a:off x="7977712" y="1316900"/>
            <a:ext cx="3815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(54%) and manual transmission (87%) dominate supply. Automatic and electric/CNG/LPG vehicles remain a thin slice — a clear white-space opportunity as buyer preferences shift toward automatics.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9024E-36A6-E76F-6272-8FCB82D2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2" t="54519" r="53008" b="1892"/>
          <a:stretch>
            <a:fillRect/>
          </a:stretch>
        </p:blipFill>
        <p:spPr>
          <a:xfrm>
            <a:off x="1757680" y="1316900"/>
            <a:ext cx="3901440" cy="2876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FC5739-4225-B1C6-901D-09FFCEE21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61" t="54600" r="4668" b="18190"/>
          <a:stretch>
            <a:fillRect/>
          </a:stretch>
        </p:blipFill>
        <p:spPr>
          <a:xfrm>
            <a:off x="1757680" y="4775199"/>
            <a:ext cx="4023360" cy="17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BD21-317A-AD6C-5CD1-6BA26175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BB9-72E9-A697-8755-91E46864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6A52D-69EA-5221-62C1-557540B0A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6CBFDD2D-DDE7-3B03-A442-F4EA30169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549C930B-9E6D-9B3A-D56C-999727F0687C}"/>
              </a:ext>
            </a:extLst>
          </p:cNvPr>
          <p:cNvSpPr/>
          <p:nvPr/>
        </p:nvSpPr>
        <p:spPr>
          <a:xfrm>
            <a:off x="274320" y="360997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SIGNALS: Seller Type &amp; Ownership History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644A4DB-0AD4-CD2C-9B7C-F5836E089A04}"/>
              </a:ext>
            </a:extLst>
          </p:cNvPr>
          <p:cNvSpPr/>
          <p:nvPr/>
        </p:nvSpPr>
        <p:spPr>
          <a:xfrm>
            <a:off x="7977712" y="1316900"/>
            <a:ext cx="3815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listings come from individual sellers and 65% are first-owner cars — strong quality-trust signals that support CARS24's certified-inspection value proposition.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576FE-84BC-1521-D128-5F6881D7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93" t="2713" r="4810" b="62946"/>
          <a:stretch>
            <a:fillRect/>
          </a:stretch>
        </p:blipFill>
        <p:spPr>
          <a:xfrm>
            <a:off x="670560" y="1013538"/>
            <a:ext cx="4727586" cy="2415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ECAD3-F329-BBC1-CD49-A98FBFF2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7" t="23328" r="51993" b="30118"/>
          <a:stretch>
            <a:fillRect/>
          </a:stretch>
        </p:blipFill>
        <p:spPr>
          <a:xfrm>
            <a:off x="670560" y="3563937"/>
            <a:ext cx="4960639" cy="325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2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6CEA-6265-C2C6-1C0C-BE9803F5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DBD4-5033-74A3-09DA-3E764E42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75DD9-7708-09CC-FC30-02BBE1B07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8016904F-DBC9-28B9-C13C-1B16E74D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773ABB5-4B67-FC16-20CC-C88A67DB1A10}"/>
              </a:ext>
            </a:extLst>
          </p:cNvPr>
          <p:cNvSpPr/>
          <p:nvPr/>
        </p:nvSpPr>
        <p:spPr>
          <a:xfrm>
            <a:off x="69747" y="136774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SIGNALS: Seller Type &amp; Ownership History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CA15429-6D39-2D62-6BD0-6F4D0D004FCA}"/>
              </a:ext>
            </a:extLst>
          </p:cNvPr>
          <p:cNvSpPr/>
          <p:nvPr/>
        </p:nvSpPr>
        <p:spPr>
          <a:xfrm>
            <a:off x="3936249" y="924877"/>
            <a:ext cx="7856543" cy="4186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Mileage vs. Price</a:t>
            </a: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trends downward as fuel-efficiency (mileage) rises — higher-mileage cars are typically smaller, older economy models, while low-mileage, high-performance vehicles fetch premium prices.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Driven vs. Price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with lower odometer readings command consistently higher resale value; heavily driven cars (above the 69.68K average) see steep price erosion.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Size vs. Price</a:t>
            </a:r>
            <a:r>
              <a:rPr lang="en-US" sz="1400" b="1" dirty="0">
                <a:solidFill>
                  <a:schemeClr val="bg1"/>
                </a:solidFill>
              </a:rPr>
              <a:t>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engine capacity (CC) correlates with higher selling price — bigger-engine SUVs and sedans anchor the top of the price band.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Seating Capacity vs. Price :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5-seaters average ₹0.5–0.8M while select 7–plus seat configurations reach ₹0.6–0.8M, reflecting demand for larger family and premium SUVs.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F332FE-5F54-DC6E-4667-5683D55BF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93"/>
          <a:stretch>
            <a:fillRect/>
          </a:stretch>
        </p:blipFill>
        <p:spPr>
          <a:xfrm>
            <a:off x="69747" y="924877"/>
            <a:ext cx="3756970" cy="5933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5DABF1-F744-B661-B18A-4CB4B634B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7" t="27302" r="47846" b="29434"/>
          <a:stretch>
            <a:fillRect/>
          </a:stretch>
        </p:blipFill>
        <p:spPr>
          <a:xfrm>
            <a:off x="3936249" y="4291102"/>
            <a:ext cx="3866502" cy="256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6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73C7-BD57-B28D-A7AC-8D231639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E941-0B39-4FD9-4265-E33C660A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3245-055B-A89A-EA44-CACAFFDF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Download on Magnific (formerly ...">
            <a:extLst>
              <a:ext uri="{FF2B5EF4-FFF2-40B4-BE49-F238E27FC236}">
                <a16:creationId xmlns:a16="http://schemas.microsoft.com/office/drawing/2014/main" id="{2188AFD9-A4B0-E1F7-AD73-4B80B1E53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85" y="-107066"/>
            <a:ext cx="12271569" cy="707213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AA175DF-5F2C-D9C7-BE8E-A46F383DFAAE}"/>
              </a:ext>
            </a:extLst>
          </p:cNvPr>
          <p:cNvSpPr/>
          <p:nvPr/>
        </p:nvSpPr>
        <p:spPr>
          <a:xfrm>
            <a:off x="545672" y="44028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8FB0473-3A41-B589-3B4B-EAA23F7F14B3}"/>
              </a:ext>
            </a:extLst>
          </p:cNvPr>
          <p:cNvSpPr/>
          <p:nvPr/>
        </p:nvSpPr>
        <p:spPr>
          <a:xfrm>
            <a:off x="545672" y="924877"/>
            <a:ext cx="11247120" cy="4186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900"/>
              </a:lnSpc>
              <a:spcAft>
                <a:spcPts val="1600"/>
              </a:spcAft>
              <a:buSzPct val="100000"/>
            </a:pPr>
            <a:endParaRPr lang="en-US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premium-import segment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source more BMW, Volvo, Audi and Jaguar units — they deliver the highest revenue-per-car and anchor a distinct margin-rich category.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automatic &amp; alternate-fuel stock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(13%) and electric/CNG/LPG (~1%) vehicles are underrepresented versus emerging buyer demand — an inventory gap worth closing.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trust-led selling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the 65% first-owner, 83% individual-seller base with certified inspection and ownership-history badges to justify pricing.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using usage-based models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pricing that weights KM driven, mileage and engine size, since these are the clearest levers of resale value observed in the data.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domestic volume engine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Maruti, Hyundai, Mahindra and Tata remain the revenue backbone — keep acquisition costs low and turnaround fast for these high-velocity segments.</a:t>
            </a:r>
            <a:endParaRPr lang="en-US" sz="1400" dirty="0">
              <a:solidFill>
                <a:schemeClr val="bg1"/>
              </a:solidFill>
            </a:endParaRPr>
          </a:p>
          <a:p>
            <a:pPr marL="177800" indent="-177800">
              <a:lnSpc>
                <a:spcPts val="1900"/>
              </a:lnSpc>
              <a:spcAft>
                <a:spcPts val="1600"/>
              </a:spcAft>
              <a:buSzPct val="100000"/>
              <a:buFontTx/>
              <a:buChar char="●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962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9496-01D5-90C6-C065-95B3F3B0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8379-B0CB-0A6A-F722-C6B2CAA13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5EB44-F77D-C914-4992-7B941D1BB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Car Background Images - Free HD &amp; 4K Downloads on Unsplash">
            <a:extLst>
              <a:ext uri="{FF2B5EF4-FFF2-40B4-BE49-F238E27FC236}">
                <a16:creationId xmlns:a16="http://schemas.microsoft.com/office/drawing/2014/main" id="{78EC05A6-ABBB-72DD-1191-356E294BD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545" y="-84044"/>
            <a:ext cx="12481089" cy="7372163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3716E98-143B-04BB-C9E2-9FCEAF09C9AB}"/>
              </a:ext>
            </a:extLst>
          </p:cNvPr>
          <p:cNvSpPr/>
          <p:nvPr/>
        </p:nvSpPr>
        <p:spPr>
          <a:xfrm>
            <a:off x="772160" y="1068799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7DA4A93-AE9D-FE62-D52B-08770EAB4FE4}"/>
              </a:ext>
            </a:extLst>
          </p:cNvPr>
          <p:cNvSpPr/>
          <p:nvPr/>
        </p:nvSpPr>
        <p:spPr>
          <a:xfrm>
            <a:off x="772160" y="1858963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Bansal | Data Analyst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565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700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Bansal</dc:creator>
  <cp:lastModifiedBy>Rishabh Bansal</cp:lastModifiedBy>
  <cp:revision>1</cp:revision>
  <dcterms:created xsi:type="dcterms:W3CDTF">2026-07-15T19:07:55Z</dcterms:created>
  <dcterms:modified xsi:type="dcterms:W3CDTF">2026-07-15T20:03:21Z</dcterms:modified>
</cp:coreProperties>
</file>