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7.xml" ContentType="application/vnd.openxmlformats-officedocument.presentationml.notesSlide+xml"/>
  <Override PartName="/ppt/charts/chart6.xml" ContentType="application/vnd.openxmlformats-officedocument.drawingml.chart+xml"/>
  <Override PartName="/ppt/notesSlides/notesSlide8.xml" ContentType="application/vnd.openxmlformats-officedocument.presentationml.notesSlide+xml"/>
  <Override PartName="/ppt/charts/chart7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shabh Bansal" userId="220a92e5ce521e48" providerId="LiveId" clId="{DAFB2A7F-2030-4659-B87D-1C1B1668B24C}"/>
    <pc:docChg chg="custSel delSld modSld">
      <pc:chgData name="Rishabh Bansal" userId="220a92e5ce521e48" providerId="LiveId" clId="{DAFB2A7F-2030-4659-B87D-1C1B1668B24C}" dt="2026-06-11T12:21:41.922" v="235" actId="478"/>
      <pc:docMkLst>
        <pc:docMk/>
      </pc:docMkLst>
      <pc:sldChg chg="delSp modSp mod">
        <pc:chgData name="Rishabh Bansal" userId="220a92e5ce521e48" providerId="LiveId" clId="{DAFB2A7F-2030-4659-B87D-1C1B1668B24C}" dt="2026-06-11T11:00:46.471" v="3" actId="20577"/>
        <pc:sldMkLst>
          <pc:docMk/>
          <pc:sldMk cId="0" sldId="256"/>
        </pc:sldMkLst>
        <pc:spChg chg="mod">
          <ac:chgData name="Rishabh Bansal" userId="220a92e5ce521e48" providerId="LiveId" clId="{DAFB2A7F-2030-4659-B87D-1C1B1668B24C}" dt="2026-06-11T11:00:46.471" v="3" actId="20577"/>
          <ac:spMkLst>
            <pc:docMk/>
            <pc:sldMk cId="0" sldId="256"/>
            <ac:spMk id="7" creationId="{00000000-0000-0000-0000-000000000000}"/>
          </ac:spMkLst>
        </pc:spChg>
        <pc:spChg chg="del">
          <ac:chgData name="Rishabh Bansal" userId="220a92e5ce521e48" providerId="LiveId" clId="{DAFB2A7F-2030-4659-B87D-1C1B1668B24C}" dt="2026-06-11T11:00:35.100" v="0" actId="478"/>
          <ac:spMkLst>
            <pc:docMk/>
            <pc:sldMk cId="0" sldId="256"/>
            <ac:spMk id="12" creationId="{00000000-0000-0000-0000-000000000000}"/>
          </ac:spMkLst>
        </pc:spChg>
      </pc:sldChg>
      <pc:sldChg chg="modSp mod">
        <pc:chgData name="Rishabh Bansal" userId="220a92e5ce521e48" providerId="LiveId" clId="{DAFB2A7F-2030-4659-B87D-1C1B1668B24C}" dt="2026-06-11T11:33:59.998" v="49" actId="1076"/>
        <pc:sldMkLst>
          <pc:docMk/>
          <pc:sldMk cId="0" sldId="257"/>
        </pc:sldMkLst>
        <pc:spChg chg="mod">
          <ac:chgData name="Rishabh Bansal" userId="220a92e5ce521e48" providerId="LiveId" clId="{DAFB2A7F-2030-4659-B87D-1C1B1668B24C}" dt="2026-06-11T11:33:59.998" v="49" actId="1076"/>
          <ac:spMkLst>
            <pc:docMk/>
            <pc:sldMk cId="0" sldId="257"/>
            <ac:spMk id="17" creationId="{00000000-0000-0000-0000-000000000000}"/>
          </ac:spMkLst>
        </pc:spChg>
      </pc:sldChg>
      <pc:sldChg chg="addSp delSp modSp mod">
        <pc:chgData name="Rishabh Bansal" userId="220a92e5ce521e48" providerId="LiveId" clId="{DAFB2A7F-2030-4659-B87D-1C1B1668B24C}" dt="2026-06-11T11:33:19.827" v="48" actId="1076"/>
        <pc:sldMkLst>
          <pc:docMk/>
          <pc:sldMk cId="0" sldId="258"/>
        </pc:sldMkLst>
        <pc:spChg chg="del mod">
          <ac:chgData name="Rishabh Bansal" userId="220a92e5ce521e48" providerId="LiveId" clId="{DAFB2A7F-2030-4659-B87D-1C1B1668B24C}" dt="2026-06-11T11:02:34.458" v="31" actId="478"/>
          <ac:spMkLst>
            <pc:docMk/>
            <pc:sldMk cId="0" sldId="258"/>
            <ac:spMk id="8" creationId="{00000000-0000-0000-0000-000000000000}"/>
          </ac:spMkLst>
        </pc:spChg>
        <pc:spChg chg="del">
          <ac:chgData name="Rishabh Bansal" userId="220a92e5ce521e48" providerId="LiveId" clId="{DAFB2A7F-2030-4659-B87D-1C1B1668B24C}" dt="2026-06-11T11:02:29.033" v="26" actId="478"/>
          <ac:spMkLst>
            <pc:docMk/>
            <pc:sldMk cId="0" sldId="258"/>
            <ac:spMk id="9" creationId="{00000000-0000-0000-0000-000000000000}"/>
          </ac:spMkLst>
        </pc:spChg>
        <pc:spChg chg="del">
          <ac:chgData name="Rishabh Bansal" userId="220a92e5ce521e48" providerId="LiveId" clId="{DAFB2A7F-2030-4659-B87D-1C1B1668B24C}" dt="2026-06-11T11:02:32.073" v="29" actId="478"/>
          <ac:spMkLst>
            <pc:docMk/>
            <pc:sldMk cId="0" sldId="258"/>
            <ac:spMk id="10" creationId="{00000000-0000-0000-0000-000000000000}"/>
          </ac:spMkLst>
        </pc:spChg>
        <pc:spChg chg="del">
          <ac:chgData name="Rishabh Bansal" userId="220a92e5ce521e48" providerId="LiveId" clId="{DAFB2A7F-2030-4659-B87D-1C1B1668B24C}" dt="2026-06-11T11:02:29.915" v="27" actId="478"/>
          <ac:spMkLst>
            <pc:docMk/>
            <pc:sldMk cId="0" sldId="258"/>
            <ac:spMk id="11" creationId="{00000000-0000-0000-0000-000000000000}"/>
          </ac:spMkLst>
        </pc:spChg>
        <pc:spChg chg="del">
          <ac:chgData name="Rishabh Bansal" userId="220a92e5ce521e48" providerId="LiveId" clId="{DAFB2A7F-2030-4659-B87D-1C1B1668B24C}" dt="2026-06-11T11:02:30.809" v="28" actId="478"/>
          <ac:spMkLst>
            <pc:docMk/>
            <pc:sldMk cId="0" sldId="258"/>
            <ac:spMk id="12" creationId="{00000000-0000-0000-0000-000000000000}"/>
          </ac:spMkLst>
        </pc:spChg>
        <pc:spChg chg="del">
          <ac:chgData name="Rishabh Bansal" userId="220a92e5ce521e48" providerId="LiveId" clId="{DAFB2A7F-2030-4659-B87D-1C1B1668B24C}" dt="2026-06-11T11:01:55.705" v="4" actId="478"/>
          <ac:spMkLst>
            <pc:docMk/>
            <pc:sldMk cId="0" sldId="258"/>
            <ac:spMk id="13" creationId="{00000000-0000-0000-0000-000000000000}"/>
          </ac:spMkLst>
        </pc:spChg>
        <pc:spChg chg="del">
          <ac:chgData name="Rishabh Bansal" userId="220a92e5ce521e48" providerId="LiveId" clId="{DAFB2A7F-2030-4659-B87D-1C1B1668B24C}" dt="2026-06-11T11:02:00.698" v="7" actId="478"/>
          <ac:spMkLst>
            <pc:docMk/>
            <pc:sldMk cId="0" sldId="258"/>
            <ac:spMk id="14" creationId="{00000000-0000-0000-0000-000000000000}"/>
          </ac:spMkLst>
        </pc:spChg>
        <pc:spChg chg="del mod">
          <ac:chgData name="Rishabh Bansal" userId="220a92e5ce521e48" providerId="LiveId" clId="{DAFB2A7F-2030-4659-B87D-1C1B1668B24C}" dt="2026-06-11T11:02:03.912" v="9" actId="478"/>
          <ac:spMkLst>
            <pc:docMk/>
            <pc:sldMk cId="0" sldId="258"/>
            <ac:spMk id="15" creationId="{00000000-0000-0000-0000-000000000000}"/>
          </ac:spMkLst>
        </pc:spChg>
        <pc:spChg chg="del">
          <ac:chgData name="Rishabh Bansal" userId="220a92e5ce521e48" providerId="LiveId" clId="{DAFB2A7F-2030-4659-B87D-1C1B1668B24C}" dt="2026-06-11T11:01:57.416" v="5" actId="478"/>
          <ac:spMkLst>
            <pc:docMk/>
            <pc:sldMk cId="0" sldId="258"/>
            <ac:spMk id="16" creationId="{00000000-0000-0000-0000-000000000000}"/>
          </ac:spMkLst>
        </pc:spChg>
        <pc:spChg chg="del">
          <ac:chgData name="Rishabh Bansal" userId="220a92e5ce521e48" providerId="LiveId" clId="{DAFB2A7F-2030-4659-B87D-1C1B1668B24C}" dt="2026-06-11T11:02:19.386" v="22" actId="478"/>
          <ac:spMkLst>
            <pc:docMk/>
            <pc:sldMk cId="0" sldId="258"/>
            <ac:spMk id="17" creationId="{00000000-0000-0000-0000-000000000000}"/>
          </ac:spMkLst>
        </pc:spChg>
        <pc:spChg chg="del mod">
          <ac:chgData name="Rishabh Bansal" userId="220a92e5ce521e48" providerId="LiveId" clId="{DAFB2A7F-2030-4659-B87D-1C1B1668B24C}" dt="2026-06-11T11:02:17.321" v="20" actId="478"/>
          <ac:spMkLst>
            <pc:docMk/>
            <pc:sldMk cId="0" sldId="258"/>
            <ac:spMk id="18" creationId="{00000000-0000-0000-0000-000000000000}"/>
          </ac:spMkLst>
        </pc:spChg>
        <pc:spChg chg="del">
          <ac:chgData name="Rishabh Bansal" userId="220a92e5ce521e48" providerId="LiveId" clId="{DAFB2A7F-2030-4659-B87D-1C1B1668B24C}" dt="2026-06-11T11:02:21.033" v="23" actId="478"/>
          <ac:spMkLst>
            <pc:docMk/>
            <pc:sldMk cId="0" sldId="258"/>
            <ac:spMk id="19" creationId="{00000000-0000-0000-0000-000000000000}"/>
          </ac:spMkLst>
        </pc:spChg>
        <pc:spChg chg="del mod">
          <ac:chgData name="Rishabh Bansal" userId="220a92e5ce521e48" providerId="LiveId" clId="{DAFB2A7F-2030-4659-B87D-1C1B1668B24C}" dt="2026-06-11T11:02:22.729" v="24" actId="478"/>
          <ac:spMkLst>
            <pc:docMk/>
            <pc:sldMk cId="0" sldId="258"/>
            <ac:spMk id="20" creationId="{00000000-0000-0000-0000-000000000000}"/>
          </ac:spMkLst>
        </pc:spChg>
        <pc:spChg chg="del">
          <ac:chgData name="Rishabh Bansal" userId="220a92e5ce521e48" providerId="LiveId" clId="{DAFB2A7F-2030-4659-B87D-1C1B1668B24C}" dt="2026-06-11T11:02:35.097" v="32" actId="478"/>
          <ac:spMkLst>
            <pc:docMk/>
            <pc:sldMk cId="0" sldId="258"/>
            <ac:spMk id="21" creationId="{00000000-0000-0000-0000-000000000000}"/>
          </ac:spMkLst>
        </pc:spChg>
        <pc:spChg chg="del">
          <ac:chgData name="Rishabh Bansal" userId="220a92e5ce521e48" providerId="LiveId" clId="{DAFB2A7F-2030-4659-B87D-1C1B1668B24C}" dt="2026-06-11T11:02:39.849" v="36" actId="478"/>
          <ac:spMkLst>
            <pc:docMk/>
            <pc:sldMk cId="0" sldId="258"/>
            <ac:spMk id="22" creationId="{00000000-0000-0000-0000-000000000000}"/>
          </ac:spMkLst>
        </pc:spChg>
        <pc:spChg chg="del mod">
          <ac:chgData name="Rishabh Bansal" userId="220a92e5ce521e48" providerId="LiveId" clId="{DAFB2A7F-2030-4659-B87D-1C1B1668B24C}" dt="2026-06-11T11:02:38.761" v="35" actId="478"/>
          <ac:spMkLst>
            <pc:docMk/>
            <pc:sldMk cId="0" sldId="258"/>
            <ac:spMk id="23" creationId="{00000000-0000-0000-0000-000000000000}"/>
          </ac:spMkLst>
        </pc:spChg>
        <pc:spChg chg="del">
          <ac:chgData name="Rishabh Bansal" userId="220a92e5ce521e48" providerId="LiveId" clId="{DAFB2A7F-2030-4659-B87D-1C1B1668B24C}" dt="2026-06-11T11:02:36.794" v="33" actId="478"/>
          <ac:spMkLst>
            <pc:docMk/>
            <pc:sldMk cId="0" sldId="258"/>
            <ac:spMk id="24" creationId="{00000000-0000-0000-0000-000000000000}"/>
          </ac:spMkLst>
        </pc:spChg>
        <pc:spChg chg="del">
          <ac:chgData name="Rishabh Bansal" userId="220a92e5ce521e48" providerId="LiveId" clId="{DAFB2A7F-2030-4659-B87D-1C1B1668B24C}" dt="2026-06-11T11:02:41.386" v="37" actId="478"/>
          <ac:spMkLst>
            <pc:docMk/>
            <pc:sldMk cId="0" sldId="258"/>
            <ac:spMk id="25" creationId="{00000000-0000-0000-0000-000000000000}"/>
          </ac:spMkLst>
        </pc:spChg>
        <pc:spChg chg="del">
          <ac:chgData name="Rishabh Bansal" userId="220a92e5ce521e48" providerId="LiveId" clId="{DAFB2A7F-2030-4659-B87D-1C1B1668B24C}" dt="2026-06-11T11:02:46.265" v="40" actId="478"/>
          <ac:spMkLst>
            <pc:docMk/>
            <pc:sldMk cId="0" sldId="258"/>
            <ac:spMk id="26" creationId="{00000000-0000-0000-0000-000000000000}"/>
          </ac:spMkLst>
        </pc:spChg>
        <pc:spChg chg="del">
          <ac:chgData name="Rishabh Bansal" userId="220a92e5ce521e48" providerId="LiveId" clId="{DAFB2A7F-2030-4659-B87D-1C1B1668B24C}" dt="2026-06-11T11:02:44.762" v="39" actId="478"/>
          <ac:spMkLst>
            <pc:docMk/>
            <pc:sldMk cId="0" sldId="258"/>
            <ac:spMk id="27" creationId="{00000000-0000-0000-0000-000000000000}"/>
          </ac:spMkLst>
        </pc:spChg>
        <pc:spChg chg="del">
          <ac:chgData name="Rishabh Bansal" userId="220a92e5ce521e48" providerId="LiveId" clId="{DAFB2A7F-2030-4659-B87D-1C1B1668B24C}" dt="2026-06-11T11:02:42.057" v="38" actId="478"/>
          <ac:spMkLst>
            <pc:docMk/>
            <pc:sldMk cId="0" sldId="258"/>
            <ac:spMk id="28" creationId="{00000000-0000-0000-0000-000000000000}"/>
          </ac:spMkLst>
        </pc:spChg>
        <pc:graphicFrameChg chg="del modGraphic">
          <ac:chgData name="Rishabh Bansal" userId="220a92e5ce521e48" providerId="LiveId" clId="{DAFB2A7F-2030-4659-B87D-1C1B1668B24C}" dt="2026-06-11T11:02:56.592" v="42" actId="478"/>
          <ac:graphicFrameMkLst>
            <pc:docMk/>
            <pc:sldMk cId="0" sldId="258"/>
            <ac:graphicFrameMk id="7" creationId="{00000000-0000-0000-0000-000000000000}"/>
          </ac:graphicFrameMkLst>
        </pc:graphicFrameChg>
        <pc:picChg chg="add mod">
          <ac:chgData name="Rishabh Bansal" userId="220a92e5ce521e48" providerId="LiveId" clId="{DAFB2A7F-2030-4659-B87D-1C1B1668B24C}" dt="2026-06-11T11:33:19.827" v="48" actId="1076"/>
          <ac:picMkLst>
            <pc:docMk/>
            <pc:sldMk cId="0" sldId="258"/>
            <ac:picMk id="32" creationId="{03934BAA-F51F-7BA2-83E7-C0E0C8CE8A97}"/>
          </ac:picMkLst>
        </pc:picChg>
      </pc:sldChg>
      <pc:sldChg chg="del mod">
        <pc:chgData name="Rishabh Bansal" userId="220a92e5ce521e48" providerId="LiveId" clId="{DAFB2A7F-2030-4659-B87D-1C1B1668B24C}" dt="2026-06-11T11:44:03.762" v="54" actId="47"/>
        <pc:sldMkLst>
          <pc:docMk/>
          <pc:sldMk cId="0" sldId="262"/>
        </pc:sldMkLst>
      </pc:sldChg>
      <pc:sldChg chg="addSp delSp modSp mod">
        <pc:chgData name="Rishabh Bansal" userId="220a92e5ce521e48" providerId="LiveId" clId="{DAFB2A7F-2030-4659-B87D-1C1B1668B24C}" dt="2026-06-11T12:21:41.922" v="235" actId="478"/>
        <pc:sldMkLst>
          <pc:docMk/>
          <pc:sldMk cId="0" sldId="266"/>
        </pc:sldMkLst>
        <pc:spChg chg="mod">
          <ac:chgData name="Rishabh Bansal" userId="220a92e5ce521e48" providerId="LiveId" clId="{DAFB2A7F-2030-4659-B87D-1C1B1668B24C}" dt="2026-06-11T12:21:32.833" v="233" actId="14100"/>
          <ac:spMkLst>
            <pc:docMk/>
            <pc:sldMk cId="0" sldId="266"/>
            <ac:spMk id="52" creationId="{00000000-0000-0000-0000-000000000000}"/>
          </ac:spMkLst>
        </pc:spChg>
        <pc:spChg chg="del">
          <ac:chgData name="Rishabh Bansal" userId="220a92e5ce521e48" providerId="LiveId" clId="{DAFB2A7F-2030-4659-B87D-1C1B1668B24C}" dt="2026-06-11T11:46:23.327" v="128" actId="478"/>
          <ac:spMkLst>
            <pc:docMk/>
            <pc:sldMk cId="0" sldId="266"/>
            <ac:spMk id="54" creationId="{00000000-0000-0000-0000-000000000000}"/>
          </ac:spMkLst>
        </pc:spChg>
        <pc:spChg chg="del">
          <ac:chgData name="Rishabh Bansal" userId="220a92e5ce521e48" providerId="LiveId" clId="{DAFB2A7F-2030-4659-B87D-1C1B1668B24C}" dt="2026-06-11T11:46:27.375" v="129" actId="478"/>
          <ac:spMkLst>
            <pc:docMk/>
            <pc:sldMk cId="0" sldId="266"/>
            <ac:spMk id="55" creationId="{00000000-0000-0000-0000-000000000000}"/>
          </ac:spMkLst>
        </pc:spChg>
        <pc:spChg chg="mod">
          <ac:chgData name="Rishabh Bansal" userId="220a92e5ce521e48" providerId="LiveId" clId="{DAFB2A7F-2030-4659-B87D-1C1B1668B24C}" dt="2026-06-11T11:45:47.393" v="120" actId="20577"/>
          <ac:spMkLst>
            <pc:docMk/>
            <pc:sldMk cId="0" sldId="266"/>
            <ac:spMk id="56" creationId="{00000000-0000-0000-0000-000000000000}"/>
          </ac:spMkLst>
        </pc:spChg>
        <pc:spChg chg="mod">
          <ac:chgData name="Rishabh Bansal" userId="220a92e5ce521e48" providerId="LiveId" clId="{DAFB2A7F-2030-4659-B87D-1C1B1668B24C}" dt="2026-06-11T11:46:57.299" v="140" actId="21"/>
          <ac:spMkLst>
            <pc:docMk/>
            <pc:sldMk cId="0" sldId="266"/>
            <ac:spMk id="57" creationId="{00000000-0000-0000-0000-000000000000}"/>
          </ac:spMkLst>
        </pc:spChg>
        <pc:spChg chg="mod">
          <ac:chgData name="Rishabh Bansal" userId="220a92e5ce521e48" providerId="LiveId" clId="{DAFB2A7F-2030-4659-B87D-1C1B1668B24C}" dt="2026-06-11T11:46:50.162" v="139" actId="404"/>
          <ac:spMkLst>
            <pc:docMk/>
            <pc:sldMk cId="0" sldId="266"/>
            <ac:spMk id="58" creationId="{00000000-0000-0000-0000-000000000000}"/>
          </ac:spMkLst>
        </pc:spChg>
        <pc:spChg chg="mod">
          <ac:chgData name="Rishabh Bansal" userId="220a92e5ce521e48" providerId="LiveId" clId="{DAFB2A7F-2030-4659-B87D-1C1B1668B24C}" dt="2026-06-11T11:45:30.961" v="95" actId="21"/>
          <ac:spMkLst>
            <pc:docMk/>
            <pc:sldMk cId="0" sldId="266"/>
            <ac:spMk id="59" creationId="{00000000-0000-0000-0000-000000000000}"/>
          </ac:spMkLst>
        </pc:spChg>
        <pc:spChg chg="mod">
          <ac:chgData name="Rishabh Bansal" userId="220a92e5ce521e48" providerId="LiveId" clId="{DAFB2A7F-2030-4659-B87D-1C1B1668B24C}" dt="2026-06-11T11:46:02.627" v="122"/>
          <ac:spMkLst>
            <pc:docMk/>
            <pc:sldMk cId="0" sldId="266"/>
            <ac:spMk id="60" creationId="{00000000-0000-0000-0000-000000000000}"/>
          </ac:spMkLst>
        </pc:spChg>
        <pc:spChg chg="mod">
          <ac:chgData name="Rishabh Bansal" userId="220a92e5ce521e48" providerId="LiveId" clId="{DAFB2A7F-2030-4659-B87D-1C1B1668B24C}" dt="2026-06-11T11:45:02.197" v="55" actId="21"/>
          <ac:spMkLst>
            <pc:docMk/>
            <pc:sldMk cId="0" sldId="266"/>
            <ac:spMk id="61" creationId="{00000000-0000-0000-0000-000000000000}"/>
          </ac:spMkLst>
        </pc:spChg>
        <pc:spChg chg="add mod">
          <ac:chgData name="Rishabh Bansal" userId="220a92e5ce521e48" providerId="LiveId" clId="{DAFB2A7F-2030-4659-B87D-1C1B1668B24C}" dt="2026-06-11T11:47:02.609" v="165" actId="20577"/>
          <ac:spMkLst>
            <pc:docMk/>
            <pc:sldMk cId="0" sldId="266"/>
            <ac:spMk id="63" creationId="{752CDC56-F750-D026-5C52-A6CE88DEE72B}"/>
          </ac:spMkLst>
        </pc:spChg>
        <pc:spChg chg="add del mod">
          <ac:chgData name="Rishabh Bansal" userId="220a92e5ce521e48" providerId="LiveId" clId="{DAFB2A7F-2030-4659-B87D-1C1B1668B24C}" dt="2026-06-11T12:21:41.922" v="235" actId="478"/>
          <ac:spMkLst>
            <pc:docMk/>
            <pc:sldMk cId="0" sldId="266"/>
            <ac:spMk id="64" creationId="{827BF4BB-B65E-3237-A2F0-DA6E3FA4B11E}"/>
          </ac:spMkLst>
        </pc:spChg>
        <pc:spChg chg="add mod">
          <ac:chgData name="Rishabh Bansal" userId="220a92e5ce521e48" providerId="LiveId" clId="{DAFB2A7F-2030-4659-B87D-1C1B1668B24C}" dt="2026-06-11T11:47:30.002" v="232" actId="20577"/>
          <ac:spMkLst>
            <pc:docMk/>
            <pc:sldMk cId="0" sldId="266"/>
            <ac:spMk id="66" creationId="{2E62F988-15F7-9BF9-9301-4FF542368B79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(₹M)</c:v>
                </c:pt>
              </c:strCache>
            </c:strRef>
          </c:tx>
          <c:spPr>
            <a:ln w="38100" cap="flat">
              <a:solidFill>
                <a:srgbClr val="22D3EE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2D3EE"/>
              </a:solidFill>
              <a:ln w="9525" cap="flat">
                <a:solidFill>
                  <a:srgbClr val="22D3EE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5.0999999999999996</c:v>
                </c:pt>
                <c:pt idx="1">
                  <c:v>4.8</c:v>
                </c:pt>
                <c:pt idx="2">
                  <c:v>5.3</c:v>
                </c:pt>
                <c:pt idx="3">
                  <c:v>5.0999999999999996</c:v>
                </c:pt>
                <c:pt idx="4">
                  <c:v>5.2</c:v>
                </c:pt>
                <c:pt idx="5">
                  <c:v>5.15</c:v>
                </c:pt>
                <c:pt idx="6">
                  <c:v>5</c:v>
                </c:pt>
                <c:pt idx="7">
                  <c:v>4.95</c:v>
                </c:pt>
                <c:pt idx="8">
                  <c:v>4.9000000000000004</c:v>
                </c:pt>
                <c:pt idx="9">
                  <c:v>4.8499999999999996</c:v>
                </c:pt>
                <c:pt idx="10">
                  <c:v>4.8</c:v>
                </c:pt>
                <c:pt idx="11">
                  <c:v>5.2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7AA9-4A6E-A797-4FD11AC5B6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3A5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A2F5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(₹M)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Accessories</c:v>
                </c:pt>
                <c:pt idx="1">
                  <c:v>Shoes</c:v>
                </c:pt>
                <c:pt idx="2">
                  <c:v>Clothing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22.5</c:v>
                </c:pt>
                <c:pt idx="1">
                  <c:v>20.8</c:v>
                </c:pt>
                <c:pt idx="2">
                  <c:v>18.05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17C-476E-A96E-02FD563B627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Profit (₹M)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Accessories</c:v>
                </c:pt>
                <c:pt idx="1">
                  <c:v>Shoes</c:v>
                </c:pt>
                <c:pt idx="2">
                  <c:v>Clothing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17</c:v>
                </c:pt>
                <c:pt idx="1">
                  <c:v>15.6</c:v>
                </c:pt>
                <c:pt idx="2">
                  <c:v>13.47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01F-4EDB-83DE-C262697273C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2D3E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489C-40C4-8D29-FEB94BBFF284}"/>
              </c:ext>
            </c:extLst>
          </c:dPt>
          <c:dPt>
            <c:idx val="1"/>
            <c:bubble3D val="0"/>
            <c:spPr>
              <a:solidFill>
                <a:srgbClr val="1E3A5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89C-40C4-8D29-FEB94BBFF284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89C-40C4-8D29-FEB94BBFF284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89C-40C4-8D29-FEB94BBFF284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Weekend (28.84%)</c:v>
                </c:pt>
                <c:pt idx="1">
                  <c:v>Weekday (71.16%)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17.690000000000001</c:v>
                </c:pt>
                <c:pt idx="1">
                  <c:v>43.66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89C-40C4-8D29-FEB94BBFF28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E2E8F0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A2F5A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22D3E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Weekend</c:v>
                </c:pt>
                <c:pt idx="1">
                  <c:v>Weekday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17.690000000000001</c:v>
                </c:pt>
                <c:pt idx="1">
                  <c:v>43.66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84E-4946-875C-FB6499F77C7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 (+15%)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Weekend</c:v>
                </c:pt>
                <c:pt idx="1">
                  <c:v>Weekday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20.34</c:v>
                </c:pt>
                <c:pt idx="1">
                  <c:v>43.66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84E-4946-875C-FB6499F77C7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E2E8F0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A2F5A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(₹K)</c:v>
                </c:pt>
              </c:strCache>
            </c:strRef>
          </c:tx>
          <c:spPr>
            <a:solidFill>
              <a:srgbClr val="8B5CF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STR037</c:v>
                </c:pt>
                <c:pt idx="1">
                  <c:v>STR030</c:v>
                </c:pt>
                <c:pt idx="2">
                  <c:v>STR020</c:v>
                </c:pt>
                <c:pt idx="3">
                  <c:v>STR001</c:v>
                </c:pt>
                <c:pt idx="4">
                  <c:v>STR029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1120</c:v>
                </c:pt>
                <c:pt idx="1">
                  <c:v>1080</c:v>
                </c:pt>
                <c:pt idx="2">
                  <c:v>1040</c:v>
                </c:pt>
                <c:pt idx="3">
                  <c:v>1010</c:v>
                </c:pt>
                <c:pt idx="4">
                  <c:v>990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38B-471B-B2E7-29079D9F87B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90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2D3E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4FB7-4F06-9D5D-789C9BB578C3}"/>
              </c:ext>
            </c:extLst>
          </c:dPt>
          <c:dPt>
            <c:idx val="1"/>
            <c:bubble3D val="0"/>
            <c:spPr>
              <a:solidFill>
                <a:srgbClr val="1E3A5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FB7-4F06-9D5D-789C9BB578C3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FB7-4F06-9D5D-789C9BB578C3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FB7-4F06-9D5D-789C9BB578C3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New Customers (70.41%)</c:v>
                </c:pt>
                <c:pt idx="1">
                  <c:v>Returning (29.59%)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10562</c:v>
                </c:pt>
                <c:pt idx="1">
                  <c:v>4438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FB7-4F06-9D5D-789C9BB578C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E2E8F0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A2F5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6549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to the FashionWave Sales Analysis Case Study. This presentation covers a full-year retail analysis across 50 stores. Key business objectives: grow weekend sales 15%, improve product profitability, optimize discount strategy.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FashionWave has strong overall metrics but faces specific operational gaps. The 71/29 weekday-weekend split suggests significant untapped revenue potential on weekends. Our analysis will uncover root causes and actionable strategies.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dataset contains transactional records across all 50 FashionWave stores. After cleaning, the dataset is representative and analysis-ready. Day_type and Category are the two most critical segmentation fields for this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KPIs are strong at the aggregate level. The 75.1% profit margin significantly outperforms the industry average of 55–60%. However, the weekend gap (only 28.84% of total sales) is the biggest untapped growth lever.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Accessories shows the highest ROI per SKU. Clothing may have high volume but low margin — needs pricing review. Recommend reallocating promotional spend toward Accessories and Shoes for better returns.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Weekend sales represent the single largest untapped revenue pool. Closing even half the gap would add ~₹1.3M quarterly. Focus on experience-based shopping, family bundles, and weekend-only flash promotions.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20% revenue gap exists between top and bottom store tiers. Closing half this gap across the bottom 10 stores could add ~₹2M annually. Focus on store manager coaching and localized marketing budgets.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70% new customers is impressive acquisition but a warning sign: the retention rate appears low. Increasing returning customer share from 30% to 40% would dramatically improve LTV and reduce CAC. Focus on post-purchase engagement.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six insights form the core analytical payload of the project. Each maps directly to an actionable recommendation. Present these as 'the 6 things we'd do first if given authority today.'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6 recommendations are prioritized by implementation speed. Quick wins in Q1 generate momentum and ROI. Long-term strategies compound the gains. Expected total impact: ₹5–8M incremental profit over 12 months.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slide. Summarize: FashionWave has strong fundamentals. The three-pronged strategy — weekend growth, category focus, discount discipline — can deliver ₹5–8M incremental profit in 12 months with no additional capital expenditure.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303520"/>
            <a:ext cx="41148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28016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FASHIONWAVE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192024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Analysis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20040" y="269748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Case Study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20040" y="3291840"/>
            <a:ext cx="109728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36576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" y="39319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Rishab Bansal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20040" y="4315968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| Business Intelligence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480560" y="1463040"/>
            <a:ext cx="3474720" cy="1188720"/>
          </a:xfrm>
          <a:prstGeom prst="rect">
            <a:avLst/>
          </a:prstGeom>
          <a:solidFill>
            <a:srgbClr val="1A2F5A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480560" y="160020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₹61.35M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4480560" y="21945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275320" y="1463040"/>
            <a:ext cx="3474720" cy="1188720"/>
          </a:xfrm>
          <a:prstGeom prst="rect">
            <a:avLst/>
          </a:prstGeom>
          <a:solidFill>
            <a:srgbClr val="1A2F5A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75320" y="160020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75.10%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8275320" y="21945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480560" y="2971800"/>
            <a:ext cx="3474720" cy="1188720"/>
          </a:xfrm>
          <a:prstGeom prst="rect">
            <a:avLst/>
          </a:prstGeom>
          <a:solidFill>
            <a:srgbClr val="1A2F5A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480560" y="310896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15,000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4480560" y="37033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275320" y="2971800"/>
            <a:ext cx="3474720" cy="1188720"/>
          </a:xfrm>
          <a:prstGeom prst="rect">
            <a:avLst/>
          </a:prstGeom>
          <a:solidFill>
            <a:srgbClr val="1A2F5A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275320" y="310896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3400" dirty="0"/>
          </a:p>
        </p:txBody>
      </p:sp>
      <p:sp>
        <p:nvSpPr>
          <p:cNvPr id="24" name="Text 22"/>
          <p:cNvSpPr/>
          <p:nvPr/>
        </p:nvSpPr>
        <p:spPr>
          <a:xfrm>
            <a:off x="8275320" y="37033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Analyzed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297680" y="5303520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Stores  •  Pan-India Operations 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1216152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 &amp; OBJECTIVES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1155680" y="13716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65760" y="114300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FashionWave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1554480"/>
            <a:ext cx="5029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FashionWave is a pan-India fashion retail chain operating </a:t>
            </a: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stores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across major metros and Tier-2 cities. With annual revenues crossing ₹61M, the brand sells Clothing, Shoes, and Accessories across new and returning customer segments. Despite strong overall margins, the business faces structural challenges in weekend performance, discount optimization, and product-level profitability.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32918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Business Challenges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3749040"/>
            <a:ext cx="320040" cy="3200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74904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 sales lag significantly behind weekday performance (28.84% vs 71.16%)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5760" y="4361688"/>
            <a:ext cx="320040" cy="3200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361688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profitability across product categories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4974336"/>
            <a:ext cx="320040" cy="3200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974336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Unclear impact of discount bands on margin health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65760" y="5586984"/>
            <a:ext cx="320040" cy="3200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5586984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variance in store-level revenue performance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974080" y="1115568"/>
            <a:ext cx="5852160" cy="56692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128016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Objectives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217920" y="1874520"/>
            <a:ext cx="5303520" cy="1234440"/>
          </a:xfrm>
          <a:prstGeom prst="rect">
            <a:avLst/>
          </a:prstGeom>
          <a:solidFill>
            <a:srgbClr val="1A2F5A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19659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Grow Weekend Sales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0" y="233172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weekend revenue by 15% in the next quarter through targeted campaigns and promotions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17920" y="3337560"/>
            <a:ext cx="5303520" cy="1234440"/>
          </a:xfrm>
          <a:prstGeom prst="rect">
            <a:avLst/>
          </a:prstGeom>
          <a:solidFill>
            <a:srgbClr val="1A2F5A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34290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Improve Profitability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0" y="379476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and promote high-margin categories while reducing cost drag in low performers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17920" y="4800600"/>
            <a:ext cx="5303520" cy="1234440"/>
          </a:xfrm>
          <a:prstGeom prst="rect">
            <a:avLst/>
          </a:prstGeom>
          <a:solidFill>
            <a:srgbClr val="1A2F5A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0" y="48920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  Optimize Discounts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00800" y="525780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data-driven discount thresholds that protect margins while driving conversion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17920" y="626364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Metrics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217920" y="647395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+15% Weekend Sales  •  Margin ≥ 75%  •  Optimal Discount Band Identified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1216152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1155680" y="13716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65760" y="11430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Fields Used</a:t>
            </a:r>
            <a:endParaRPr lang="en-US" sz="1800" dirty="0"/>
          </a:p>
        </p:txBody>
      </p:sp>
      <p:sp>
        <p:nvSpPr>
          <p:cNvPr id="29" name="Shape 26"/>
          <p:cNvSpPr/>
          <p:nvPr/>
        </p:nvSpPr>
        <p:spPr>
          <a:xfrm>
            <a:off x="6492240" y="5760720"/>
            <a:ext cx="5303520" cy="822960"/>
          </a:xfrm>
          <a:prstGeom prst="rect">
            <a:avLst/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675120" y="58064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Key Assumptions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6675120" y="60807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transactions are in INR  •  FY runs Jan–Dec  •  50 stores treated equally unless noted</a:t>
            </a:r>
            <a:endParaRPr lang="en-US" sz="1100" dirty="0"/>
          </a:p>
        </p:txBody>
      </p:sp>
      <p:pic>
        <p:nvPicPr>
          <p:cNvPr id="32" name="Picture 31" descr="image">
            <a:extLst>
              <a:ext uri="{FF2B5EF4-FFF2-40B4-BE49-F238E27FC236}">
                <a16:creationId xmlns:a16="http://schemas.microsoft.com/office/drawing/2014/main" id="{03934BAA-F51F-7BA2-83E7-C0E0C8CE8A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508760"/>
            <a:ext cx="11144922" cy="404553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7152B"/>
          </a:solidFill>
          <a:ln w="12700">
            <a:solidFill>
              <a:srgbClr val="0715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1216152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1155680" y="13716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2743200" cy="2011680"/>
          </a:xfrm>
          <a:prstGeom prst="rect">
            <a:avLst/>
          </a:prstGeom>
          <a:solidFill>
            <a:srgbClr val="1A2F5A"/>
          </a:solidFill>
          <a:ln w="12700">
            <a:solidFill>
              <a:srgbClr val="0891B2"/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2344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💹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20040" y="17373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₹61.35M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20040" y="242316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" y="276148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sales across all stores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46120" y="1143000"/>
            <a:ext cx="2743200" cy="2011680"/>
          </a:xfrm>
          <a:prstGeom prst="rect">
            <a:avLst/>
          </a:prstGeom>
          <a:solidFill>
            <a:srgbClr val="1A2F5A"/>
          </a:solidFill>
          <a:ln w="12700">
            <a:solidFill>
              <a:srgbClr val="10B981"/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46120" y="12344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246120" y="17373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₹46.07M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3246120" y="242316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46120" y="276148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after COGS &amp; discounts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72200" y="1143000"/>
            <a:ext cx="2743200" cy="2011680"/>
          </a:xfrm>
          <a:prstGeom prst="rect">
            <a:avLst/>
          </a:prstGeom>
          <a:solidFill>
            <a:srgbClr val="1A2F5A"/>
          </a:solidFill>
          <a:ln w="12700">
            <a:solidFill>
              <a:srgbClr val="FCD34D"/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172200" y="12344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172200" y="17373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75.10%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6172200" y="242316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72200" y="276148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avg: ~55–60%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098280" y="1143000"/>
            <a:ext cx="2743200" cy="2011680"/>
          </a:xfrm>
          <a:prstGeom prst="rect">
            <a:avLst/>
          </a:prstGeom>
          <a:solidFill>
            <a:srgbClr val="1A2F5A"/>
          </a:solidFill>
          <a:ln w="12700">
            <a:solidFill>
              <a:srgbClr val="8B5CF6"/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098280" y="12344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9098280" y="17373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15,000</a:t>
            </a:r>
            <a:endParaRPr lang="en-US" sz="3400" dirty="0"/>
          </a:p>
        </p:txBody>
      </p:sp>
      <p:sp>
        <p:nvSpPr>
          <p:cNvPr id="24" name="Text 22"/>
          <p:cNvSpPr/>
          <p:nvPr/>
        </p:nvSpPr>
        <p:spPr>
          <a:xfrm>
            <a:off x="9098280" y="242316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098280" y="276148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₹4,090 per order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" y="3337560"/>
            <a:ext cx="7132320" cy="3108960"/>
          </a:xfrm>
          <a:prstGeom prst="rect">
            <a:avLst/>
          </a:prstGeom>
          <a:solidFill>
            <a:srgbClr val="1A2F5A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42900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Trend (Jan–Dec 2025)</a:t>
            </a:r>
            <a:endParaRPr lang="en-US" sz="1400" dirty="0"/>
          </a:p>
        </p:txBody>
      </p:sp>
      <p:graphicFrame>
        <p:nvGraphicFramePr>
          <p:cNvPr id="28" name="Chart 0"/>
          <p:cNvGraphicFramePr/>
          <p:nvPr/>
        </p:nvGraphicFramePr>
        <p:xfrm>
          <a:off x="320040" y="3749040"/>
          <a:ext cx="713232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9" name="Shape 26"/>
          <p:cNvSpPr/>
          <p:nvPr/>
        </p:nvSpPr>
        <p:spPr>
          <a:xfrm>
            <a:off x="7772400" y="3337560"/>
            <a:ext cx="4069080" cy="1417320"/>
          </a:xfrm>
          <a:prstGeom prst="rect">
            <a:avLst/>
          </a:prstGeom>
          <a:solidFill>
            <a:srgbClr val="1A2F5A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909560" y="347472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 Revenue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7909560" y="37947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₹43.66M  (71.16%)</a:t>
            </a:r>
            <a:endParaRPr lang="en-US" sz="2200" dirty="0"/>
          </a:p>
        </p:txBody>
      </p:sp>
      <p:sp>
        <p:nvSpPr>
          <p:cNvPr id="32" name="Shape 29"/>
          <p:cNvSpPr/>
          <p:nvPr/>
        </p:nvSpPr>
        <p:spPr>
          <a:xfrm>
            <a:off x="7772400" y="4892040"/>
            <a:ext cx="4069080" cy="1554480"/>
          </a:xfrm>
          <a:prstGeom prst="rect">
            <a:avLst/>
          </a:prstGeom>
          <a:solidFill>
            <a:srgbClr val="1A2F5A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909560" y="502920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 Revenue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7909560" y="53492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₹17.69M  (28.84%)</a:t>
            </a:r>
            <a:endParaRPr lang="en-US" sz="2200" dirty="0"/>
          </a:p>
        </p:txBody>
      </p:sp>
      <p:sp>
        <p:nvSpPr>
          <p:cNvPr id="35" name="Text 32"/>
          <p:cNvSpPr/>
          <p:nvPr/>
        </p:nvSpPr>
        <p:spPr>
          <a:xfrm>
            <a:off x="7909560" y="61264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₹20.34M (+15%)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1216152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CATEGORY ANALYSIS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1155680" y="13716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5394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18872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Category</a:t>
            </a:r>
            <a:endParaRPr lang="en-US" sz="15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320040" y="1508760"/>
          <a:ext cx="539496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6126480" y="1097280"/>
            <a:ext cx="5394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309360" y="118872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by Category</a:t>
            </a:r>
            <a:endParaRPr lang="en-US" sz="1500" dirty="0"/>
          </a:p>
        </p:txBody>
      </p:sp>
      <p:graphicFrame>
        <p:nvGraphicFramePr>
          <p:cNvPr id="11" name="Chart 1"/>
          <p:cNvGraphicFramePr/>
          <p:nvPr/>
        </p:nvGraphicFramePr>
        <p:xfrm>
          <a:off x="6126480" y="1508760"/>
          <a:ext cx="539496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Shape 8"/>
          <p:cNvSpPr/>
          <p:nvPr/>
        </p:nvSpPr>
        <p:spPr>
          <a:xfrm>
            <a:off x="320040" y="4160520"/>
            <a:ext cx="54864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20040" y="4160520"/>
            <a:ext cx="73152" cy="10058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02920" y="4233672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🥇 Accessories Lead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502920" y="4553712"/>
            <a:ext cx="5120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Accessories is #1 in both revenue (~₹22.5M) and profit (~₹17M), driven by high unit prices and strong repeat demand.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126480" y="4160520"/>
            <a:ext cx="54864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126480" y="4160520"/>
            <a:ext cx="73152" cy="10058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309360" y="4233672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👟 Shoes Strong #2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6309360" y="4553712"/>
            <a:ext cx="5120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Shoes follows closely with healthy margins. Mid-to-premium footwear lines are strong profit contributors.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320040" y="5394960"/>
            <a:ext cx="54864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320040" y="5394960"/>
            <a:ext cx="73152" cy="10058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02920" y="5468112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👗 Clothing Underperforms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502920" y="5788152"/>
            <a:ext cx="5120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 generates lowest revenue and profit despite likely highest SKU count — indicates pricing or mix issues.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6126480" y="5394960"/>
            <a:ext cx="54864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6126480" y="5394960"/>
            <a:ext cx="73152" cy="10058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309360" y="5468112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Strategic Insight</a:t>
            </a:r>
            <a:endParaRPr lang="en-US" sz="1300" dirty="0"/>
          </a:p>
        </p:txBody>
      </p:sp>
      <p:sp>
        <p:nvSpPr>
          <p:cNvPr id="27" name="Text 23"/>
          <p:cNvSpPr/>
          <p:nvPr/>
        </p:nvSpPr>
        <p:spPr>
          <a:xfrm>
            <a:off x="6309360" y="5788152"/>
            <a:ext cx="5120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marketing budget toward Accessories. Review Clothing pricing and SKU rationalization to improve margins.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7152B"/>
          </a:solidFill>
          <a:ln w="12700">
            <a:solidFill>
              <a:srgbClr val="0715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1216152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 vs WEEKDAY ANALYSIS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1155680" y="13716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4572000" cy="3840480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Price Split by Day Type</a:t>
            </a:r>
            <a:endParaRPr lang="en-US" sz="13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320040" y="1508760"/>
          <a:ext cx="4572000" cy="3337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5212080" y="1097280"/>
            <a:ext cx="6629400" cy="1828800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394960" y="1188720"/>
            <a:ext cx="6309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Comparison (₹M)</a:t>
            </a:r>
            <a:endParaRPr lang="en-US" sz="1400" dirty="0"/>
          </a:p>
        </p:txBody>
      </p:sp>
      <p:graphicFrame>
        <p:nvGraphicFramePr>
          <p:cNvPr id="11" name="Chart 1"/>
          <p:cNvGraphicFramePr/>
          <p:nvPr/>
        </p:nvGraphicFramePr>
        <p:xfrm>
          <a:off x="5212080" y="1508760"/>
          <a:ext cx="6629400" cy="137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Shape 8"/>
          <p:cNvSpPr/>
          <p:nvPr/>
        </p:nvSpPr>
        <p:spPr>
          <a:xfrm>
            <a:off x="5212080" y="3108960"/>
            <a:ext cx="6629400" cy="1828800"/>
          </a:xfrm>
          <a:prstGeom prst="rect">
            <a:avLst/>
          </a:prstGeom>
          <a:solidFill>
            <a:srgbClr val="0D234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394960" y="3246120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Revenue Gap Analysis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5394960" y="370332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Weekend Revenue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9601200" y="370332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₹17.69M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394960" y="399592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(+15%)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9601200" y="399592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₹20.34M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5394960" y="4288536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Gap to Close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9601200" y="428853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₹2.65M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5394960" y="4581144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Orders Needed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9601200" y="458114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~648 orders / quarter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320040" y="5120640"/>
            <a:ext cx="11521440" cy="502920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320040" y="5120640"/>
            <a:ext cx="73152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02920" y="514807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Footfall Gap: 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2103120" y="5148072"/>
            <a:ext cx="9509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 footfall benefits from office commuters and lunch shoppers — weekend lacks equivalent footfall drivers.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320040" y="5687568"/>
            <a:ext cx="11521440" cy="502920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320040" y="5687568"/>
            <a:ext cx="73152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502920" y="57150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Behavior: 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2103120" y="5715000"/>
            <a:ext cx="9509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tend to defer high-value purchases to weekdays. Weekend baskets may have lower AOV.</a:t>
            </a:r>
            <a:endParaRPr lang="en-US" sz="1200" dirty="0"/>
          </a:p>
        </p:txBody>
      </p:sp>
      <p:sp>
        <p:nvSpPr>
          <p:cNvPr id="30" name="Shape 26"/>
          <p:cNvSpPr/>
          <p:nvPr/>
        </p:nvSpPr>
        <p:spPr>
          <a:xfrm>
            <a:off x="320040" y="6254496"/>
            <a:ext cx="11521440" cy="502920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320040" y="6254496"/>
            <a:ext cx="73152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502920" y="628192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Opportunity: </a:t>
            </a:r>
            <a:endParaRPr lang="en-US" sz="1200" dirty="0"/>
          </a:p>
        </p:txBody>
      </p:sp>
      <p:sp>
        <p:nvSpPr>
          <p:cNvPr id="33" name="Text 29"/>
          <p:cNvSpPr/>
          <p:nvPr/>
        </p:nvSpPr>
        <p:spPr>
          <a:xfrm>
            <a:off x="2103120" y="6281928"/>
            <a:ext cx="9509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weekend sales, exclusive SKUs, and in-store events can bridge the 2.47x gap vs weekday revenue.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12161520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PERFORMANCE ANALYSIS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1155680" y="13716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68580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188720"/>
            <a:ext cx="6492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Stores by Revenue</a:t>
            </a:r>
            <a:endParaRPr lang="en-US" sz="15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320040" y="1508760"/>
          <a:ext cx="6858000" cy="251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7498080" y="1097280"/>
            <a:ext cx="43434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680960" y="118872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Tiers</a:t>
            </a:r>
            <a:endParaRPr lang="en-US" sz="1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0" y="1600200"/>
          <a:ext cx="4343400" cy="2286000"/>
        </p:xfrm>
        <a:graphic>
          <a:graphicData uri="http://schemas.openxmlformats.org/drawingml/2006/table">
            <a:tbl>
              <a:tblPr/>
              <a:tblGrid>
                <a:gridCol w="144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Tier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Stores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Avg Rev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🏆 Top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</a:rPr>
                        <a:t>10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0B981"/>
                          </a:solidFill>
                        </a:rPr>
                        <a:t>&gt;₹1M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🟡 Mid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9E0B"/>
                          </a:solidFill>
                        </a:rPr>
                        <a:t>30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59E0B"/>
                          </a:solidFill>
                        </a:rPr>
                        <a:t>₹0.8–1M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🔴 Low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F4444"/>
                          </a:solidFill>
                        </a:rPr>
                        <a:t>10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F4444"/>
                          </a:solidFill>
                        </a:rPr>
                        <a:t>&lt;₹0.8M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320040" y="4297680"/>
            <a:ext cx="55321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20040" y="4297680"/>
            <a:ext cx="73152" cy="10058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02920" y="4370832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🥇 STR037 #1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502920" y="4690872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performer at ~₹1.12M revenue. Likely a high-footfall metro location. Study its category mix and staffing model for replication.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126480" y="4297680"/>
            <a:ext cx="55321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126480" y="4297680"/>
            <a:ext cx="73152" cy="10058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309360" y="4370832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Location Factor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6309360" y="4690872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stores are likely in Tier-1 cities (Delhi, Mumbai, Bengaluru). Geography, footfall density, and mall anchor positions drive performance.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320040" y="5532120"/>
            <a:ext cx="55321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320040" y="5532120"/>
            <a:ext cx="73152" cy="10058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02920" y="5605272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⬇️ Underperforming Stores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502920" y="5925312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10 stores show revenue &lt;₹0.8M. Root causes: low footfall, poor local marketing, suboptimal product mix, or small store footprint.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6126480" y="5532120"/>
            <a:ext cx="55321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6126480" y="5532120"/>
            <a:ext cx="73152" cy="10058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309360" y="5605272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Playbook Replication</a:t>
            </a:r>
            <a:endParaRPr lang="en-US" sz="1300" dirty="0"/>
          </a:p>
        </p:txBody>
      </p:sp>
      <p:sp>
        <p:nvSpPr>
          <p:cNvPr id="27" name="Text 23"/>
          <p:cNvSpPr/>
          <p:nvPr/>
        </p:nvSpPr>
        <p:spPr>
          <a:xfrm>
            <a:off x="6309360" y="5925312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 'winning store playbook' from top performers and apply it to mid-tier stores as quick wins before investing in bottom-tier locations.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7152B"/>
          </a:solidFill>
          <a:ln w="12700">
            <a:solidFill>
              <a:srgbClr val="0715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12161520" cy="457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 ANALYSIS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1155680" y="13716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4754880" cy="3200400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Share by Customer Type</a:t>
            </a:r>
            <a:endParaRPr lang="en-US" sz="13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320040" y="1508760"/>
          <a:ext cx="475488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5394960" y="1097280"/>
            <a:ext cx="3154680" cy="3200400"/>
          </a:xfrm>
          <a:prstGeom prst="rect">
            <a:avLst/>
          </a:prstGeom>
          <a:solidFill>
            <a:srgbClr val="1A2F5A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394960" y="128016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🆕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5394960" y="1783080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Customers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394960" y="2148840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70.41%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5394960" y="2697480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total orders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394960" y="2971800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~10,562 orders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577840" y="3337560"/>
            <a:ext cx="2788920" cy="457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532120" y="3474720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Strategy: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532120" y="374904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offers, first-purchase discounts, welcome gift cards to drive second purchase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8778240" y="1097280"/>
            <a:ext cx="3154680" cy="3200400"/>
          </a:xfrm>
          <a:prstGeom prst="rect">
            <a:avLst/>
          </a:prstGeom>
          <a:solidFill>
            <a:srgbClr val="1A2F5A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778240" y="128016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🔁</a:t>
            </a:r>
            <a:endParaRPr lang="en-US" sz="2800" dirty="0"/>
          </a:p>
        </p:txBody>
      </p:sp>
      <p:sp>
        <p:nvSpPr>
          <p:cNvPr id="20" name="Text 17"/>
          <p:cNvSpPr/>
          <p:nvPr/>
        </p:nvSpPr>
        <p:spPr>
          <a:xfrm>
            <a:off x="8778240" y="1783080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Returning Customers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8778240" y="2148840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29.59%</a:t>
            </a:r>
            <a:endParaRPr lang="en-US" sz="3200" dirty="0"/>
          </a:p>
        </p:txBody>
      </p:sp>
      <p:sp>
        <p:nvSpPr>
          <p:cNvPr id="22" name="Text 19"/>
          <p:cNvSpPr/>
          <p:nvPr/>
        </p:nvSpPr>
        <p:spPr>
          <a:xfrm>
            <a:off x="8778240" y="2697480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total orders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778240" y="2971800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~4,438 orders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8961120" y="3337560"/>
            <a:ext cx="2788920" cy="457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915400" y="3474720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Strategy: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8915400" y="374904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points, early access to new launches, personalized re-engagement campaigns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320040" y="4480560"/>
            <a:ext cx="11521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Strategy Matrix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320040" y="4983480"/>
            <a:ext cx="11521440" cy="502920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20040" y="4983480"/>
            <a:ext cx="73152" cy="5029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02920" y="501091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→ Active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2606040" y="501091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First-purchase discount + referral bonus to convert to repeat buyer within 60 days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320040" y="5550408"/>
            <a:ext cx="11521440" cy="502920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20040" y="5550408"/>
            <a:ext cx="73152" cy="5029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02920" y="55778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Returning → Loyal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2606040" y="55778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 tier upgrade at 5 purchases: free shipping, exclusive launches, birthday rewards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320040" y="6117336"/>
            <a:ext cx="11521440" cy="502920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320040" y="6117336"/>
            <a:ext cx="73152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02920" y="614476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At-Risk Returning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2606040" y="614476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Win-back campaign: 'We miss you' email with 15% off valid for 7 days, personalized product recs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1216152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&amp; HIDDEN TRENDS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1155680" y="13716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36576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43000"/>
            <a:ext cx="3657600" cy="5029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234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RISK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78308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Concentration Risk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313432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stores (20%) generate an estimated 35%+ of total revenue. Over-reliance on a few outlets creates fragility — any disruption hits disproportionately.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224528" y="1143000"/>
            <a:ext cx="36576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24528" y="1143000"/>
            <a:ext cx="3657600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24528" y="1234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OPPORTUNITY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61688" y="178308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Accessories Margin Premium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361688" y="2313432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Accessories yields the highest revenue AND profit, yet likely receives lower floor space vs Clothing. Reallocating display area could yield +5–8% overall margin uplift.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129016" y="1143000"/>
            <a:ext cx="36576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129016" y="1143000"/>
            <a:ext cx="365760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29016" y="1234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TREND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66176" y="178308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Revenue Dips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66176" y="2313432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shows a gradual decline Aug–Nov (from ₹5.2M to ₹4.8M) before a year-end recovery. Pre-emptive October campaigns can prevent this seasonal drag.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20040" y="3886200"/>
            <a:ext cx="36576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886200"/>
            <a:ext cx="3657600" cy="5029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3977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RISK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52628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Rate Alert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5056632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70.41% new customer share, the implied repeat purchase rate is ~29%. Industry leaders maintain 40–50%. Low retention inflates CAC and suppresses LTV.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224528" y="3886200"/>
            <a:ext cx="36576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224528" y="3886200"/>
            <a:ext cx="365760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24528" y="3977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💸  OPPORTUNITY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361688" y="452628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Band Arbitrage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361688" y="5056632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percentage-point margin gap between 0–10% and 21–30% discount bands. Standardizing to low-band discounts across all stores could add ~₹3M to annual profit.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129016" y="3886200"/>
            <a:ext cx="36576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129016" y="3886200"/>
            <a:ext cx="3657600" cy="502920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129016" y="3977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🏪  TREND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266176" y="452628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Performance Disparity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266176" y="5056632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20%+ revenue gap between top and bottom store tiers suggests systemic differences in execution, staffing, and local marketing — not just geography.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7152B"/>
          </a:solidFill>
          <a:ln w="12700">
            <a:solidFill>
              <a:srgbClr val="0715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1216152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1155680" y="13716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5577840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4300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QUICK WINS  (0–3 Months)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" y="1600200"/>
            <a:ext cx="5577840" cy="914400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600200"/>
            <a:ext cx="502920" cy="9144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600200"/>
            <a:ext cx="502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60120" y="167335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 Flash Sales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198424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Friday evening to Sunday campaigns with 5–8% exclusive discounts. Target commuter-free weekend mindset with 'Weekend Specials' branding.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1783080"/>
            <a:ext cx="1097280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7830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+₹1.2M/quarter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2624328"/>
            <a:ext cx="5577840" cy="914400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2624328"/>
            <a:ext cx="502920" cy="9144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624328"/>
            <a:ext cx="502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60120" y="26974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Accessories Push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3008376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floor display share and digital ad budget for Accessories by 20%. Train staff on upselling Accessories with every Clothing/Shoes transaction.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2807208"/>
            <a:ext cx="1097280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80720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+₹0.8M/quarter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3648456"/>
            <a:ext cx="5577840" cy="914400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3648456"/>
            <a:ext cx="502920" cy="9144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648456"/>
            <a:ext cx="502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Band Policy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60120" y="403250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Mandate maximum 10% standard discount. Require manager approval for &gt;15%. Implement discount tracking dashboard for store managers.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63440" y="3831336"/>
            <a:ext cx="1097280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3831336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+₹0.5M margin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63640" y="1097280"/>
            <a:ext cx="5577840" cy="3840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0" y="114300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LONG-TERM STRATEGIES  (3–12 Months)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263640" y="1600200"/>
            <a:ext cx="5577840" cy="914400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63640" y="1600200"/>
            <a:ext cx="502920" cy="9144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63640" y="1600200"/>
            <a:ext cx="502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903720" y="167335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Program Launch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903720" y="198424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tiered loyalty: Bronze → Silver → Gold. Reward at 3, 5, 10 purchases with escalating perks. Target: raise returning customer % from 30% to 45%.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0607040" y="1783080"/>
            <a:ext cx="1097280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607040" y="17830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+LTV 40%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263640" y="2624328"/>
            <a:ext cx="5577840" cy="914400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263640" y="2624328"/>
            <a:ext cx="502920" cy="9144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63640" y="2624328"/>
            <a:ext cx="502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6903720" y="26974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Demand Forecast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903720" y="3008376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ML-based demand forecasting per store + category. Reduce overstock in low-performing stores and prevent stockouts in top stores.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10607040" y="2807208"/>
            <a:ext cx="1097280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607040" y="280720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–8% COGS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263640" y="3648456"/>
            <a:ext cx="5577840" cy="914400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263640" y="3648456"/>
            <a:ext cx="502920" cy="9144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63640" y="3648456"/>
            <a:ext cx="502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6903720" y="372160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Store-Specific Pricing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6903720" y="403250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geo-based price bands: premium pricing in Tier-1 cities, competitive pricing in Tier-2. Build category-level margin guardrails per store type.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10607040" y="3831336"/>
            <a:ext cx="1097280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607040" y="3831336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+₹3M margin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57200" y="4790380"/>
            <a:ext cx="11521440" cy="1368373"/>
          </a:xfrm>
          <a:prstGeom prst="rect">
            <a:avLst/>
          </a:prstGeom>
          <a:solidFill>
            <a:srgbClr val="0D2340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53" name="Text 51"/>
          <p:cNvSpPr/>
          <p:nvPr/>
        </p:nvSpPr>
        <p:spPr>
          <a:xfrm>
            <a:off x="548640" y="489204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Projected 12-Month Business Impact</a:t>
            </a:r>
            <a:endParaRPr lang="en-US" sz="1500" dirty="0"/>
          </a:p>
        </p:txBody>
      </p:sp>
      <p:sp>
        <p:nvSpPr>
          <p:cNvPr id="56" name="Text 54"/>
          <p:cNvSpPr/>
          <p:nvPr/>
        </p:nvSpPr>
        <p:spPr>
          <a:xfrm>
            <a:off x="3474720" y="53035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600" dirty="0"/>
          </a:p>
        </p:txBody>
      </p:sp>
      <p:sp>
        <p:nvSpPr>
          <p:cNvPr id="57" name="Text 55"/>
          <p:cNvSpPr/>
          <p:nvPr/>
        </p:nvSpPr>
        <p:spPr>
          <a:xfrm>
            <a:off x="3474720" y="58064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6309360" y="53035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Retention Target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6309360" y="58064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9144000" y="53035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Decrease Inventory Cost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9144000" y="58064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63" name="Text 58">
            <a:extLst>
              <a:ext uri="{FF2B5EF4-FFF2-40B4-BE49-F238E27FC236}">
                <a16:creationId xmlns:a16="http://schemas.microsoft.com/office/drawing/2014/main" id="{752CDC56-F750-D026-5C52-A6CE88DEE72B}"/>
              </a:ext>
            </a:extLst>
          </p:cNvPr>
          <p:cNvSpPr/>
          <p:nvPr/>
        </p:nvSpPr>
        <p:spPr>
          <a:xfrm>
            <a:off x="3596642" y="5276895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Uplift</a:t>
            </a:r>
            <a:endParaRPr lang="en-US" sz="1600" dirty="0"/>
          </a:p>
        </p:txBody>
      </p:sp>
      <p:sp>
        <p:nvSpPr>
          <p:cNvPr id="66" name="Text 58">
            <a:extLst>
              <a:ext uri="{FF2B5EF4-FFF2-40B4-BE49-F238E27FC236}">
                <a16:creationId xmlns:a16="http://schemas.microsoft.com/office/drawing/2014/main" id="{2E62F988-15F7-9BF9-9301-4FF542368B79}"/>
              </a:ext>
            </a:extLst>
          </p:cNvPr>
          <p:cNvSpPr/>
          <p:nvPr/>
        </p:nvSpPr>
        <p:spPr>
          <a:xfrm>
            <a:off x="1051561" y="531158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Weekend Sales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577840"/>
            <a:ext cx="50292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20040" y="1691640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FashionWave Sales Analysis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0040" y="2331720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2788920"/>
            <a:ext cx="274320" cy="274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78892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FashionWave is fundamentally healthy with a 75.1% profit margin — well above industry norms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3337560"/>
            <a:ext cx="274320" cy="274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33756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weekend revenue gap (28.84% vs 71.16%) is the single largest quick-win opportunity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886200"/>
            <a:ext cx="274320" cy="274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88620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Accessories is the star category — underinvested relative to its return potential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4434840"/>
            <a:ext cx="274320" cy="274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43484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Discounts above 10% erode margins by up to 10 percentage points with limited volume offset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4983480"/>
            <a:ext cx="274320" cy="274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98348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retention at ~30% is below benchmark — loyalty infrastructure is urgently needed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0040" y="5760720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 Rishabh Bansal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0040" y="608076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 |  June 2026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303520" y="1005840"/>
            <a:ext cx="6492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Business Impact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303520" y="1600200"/>
            <a:ext cx="6492240" cy="868680"/>
          </a:xfrm>
          <a:prstGeom prst="rect">
            <a:avLst/>
          </a:prstGeom>
          <a:solidFill>
            <a:srgbClr val="1A2F5A"/>
          </a:solidFill>
          <a:ln w="12700">
            <a:solidFill>
              <a:srgbClr val="22D3EE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486400" y="167335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 Revenue Target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0" y="1965960"/>
            <a:ext cx="6126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₹20.34M (+15%)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5303520" y="2606040"/>
            <a:ext cx="6492240" cy="868680"/>
          </a:xfrm>
          <a:prstGeom prst="rect">
            <a:avLst/>
          </a:prstGeom>
          <a:solidFill>
            <a:srgbClr val="1A2F5A"/>
          </a:solidFill>
          <a:ln w="12700">
            <a:solidFill>
              <a:srgbClr val="10B981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486400" y="267919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Profit Uplift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0" y="2971800"/>
            <a:ext cx="6126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₹5–8M additional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5303520" y="3611880"/>
            <a:ext cx="6492240" cy="868680"/>
          </a:xfrm>
          <a:prstGeom prst="rect">
            <a:avLst/>
          </a:prstGeom>
          <a:solidFill>
            <a:srgbClr val="1A2F5A"/>
          </a:solidFill>
          <a:ln w="12700">
            <a:solidFill>
              <a:srgbClr val="8B5CF6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0" y="368503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Retention Goal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0" y="3977640"/>
            <a:ext cx="6126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→ 45% returning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5303520" y="4617720"/>
            <a:ext cx="6492240" cy="868680"/>
          </a:xfrm>
          <a:prstGeom prst="rect">
            <a:avLst/>
          </a:prstGeom>
          <a:solidFill>
            <a:srgbClr val="1A2F5A"/>
          </a:solidFill>
          <a:ln w="12700">
            <a:solidFill>
              <a:srgbClr val="F59E0B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486400" y="469087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Cost Reduction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86400" y="4983480"/>
            <a:ext cx="6126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–8% via forecasting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5303520" y="5623560"/>
            <a:ext cx="6492240" cy="10058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0" y="5715000"/>
            <a:ext cx="6126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"Data is not just about the past — it's the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 for a better future."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1771</Words>
  <Application>Microsoft Office PowerPoint</Application>
  <PresentationFormat>Widescreen</PresentationFormat>
  <Paragraphs>241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FashionWave Sales Analysis</dc:title>
  <dc:subject>PptxGenJS Presentation</dc:subject>
  <dc:creator>Rishabh Bansal</dc:creator>
  <cp:lastModifiedBy>Rishabh Bansal</cp:lastModifiedBy>
  <cp:revision>2</cp:revision>
  <dcterms:created xsi:type="dcterms:W3CDTF">2026-06-07T11:49:07Z</dcterms:created>
  <dcterms:modified xsi:type="dcterms:W3CDTF">2026-06-11T12:30:30Z</dcterms:modified>
</cp:coreProperties>
</file>