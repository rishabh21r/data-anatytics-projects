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shabh Bansal" userId="220a92e5ce521e48" providerId="LiveId" clId="{DAFB2A7F-2030-4659-B87D-1C1B1668B24C}"/>
    <pc:docChg chg="modSld">
      <pc:chgData name="Rishabh Bansal" userId="220a92e5ce521e48" providerId="LiveId" clId="{DAFB2A7F-2030-4659-B87D-1C1B1668B24C}" dt="2026-06-13T03:29:46.599" v="2" actId="1076"/>
      <pc:docMkLst>
        <pc:docMk/>
      </pc:docMkLst>
      <pc:sldChg chg="modSp mod">
        <pc:chgData name="Rishabh Bansal" userId="220a92e5ce521e48" providerId="LiveId" clId="{DAFB2A7F-2030-4659-B87D-1C1B1668B24C}" dt="2026-06-13T03:29:46.599" v="2" actId="1076"/>
        <pc:sldMkLst>
          <pc:docMk/>
          <pc:sldMk cId="0" sldId="262"/>
        </pc:sldMkLst>
        <pc:spChg chg="mod">
          <ac:chgData name="Rishabh Bansal" userId="220a92e5ce521e48" providerId="LiveId" clId="{DAFB2A7F-2030-4659-B87D-1C1B1668B24C}" dt="2026-06-13T03:29:26.065" v="1" actId="1076"/>
          <ac:spMkLst>
            <pc:docMk/>
            <pc:sldMk cId="0" sldId="262"/>
            <ac:spMk id="9" creationId="{00000000-0000-0000-0000-000000000000}"/>
          </ac:spMkLst>
        </pc:spChg>
        <pc:spChg chg="mod">
          <ac:chgData name="Rishabh Bansal" userId="220a92e5ce521e48" providerId="LiveId" clId="{DAFB2A7F-2030-4659-B87D-1C1B1668B24C}" dt="2026-06-13T03:29:46.599" v="2" actId="1076"/>
          <ac:spMkLst>
            <pc:docMk/>
            <pc:sldMk cId="0" sldId="262"/>
            <ac:spMk id="14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Revenue by Product (K)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(K)</c:v>
                </c:pt>
              </c:strCache>
            </c:strRef>
          </c:tx>
          <c:spPr>
            <a:solidFill>
              <a:srgbClr val="C2185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E1C-4657-8342-0C00209BCC9F}"/>
              </c:ext>
            </c:extLst>
          </c:dPt>
          <c:dPt>
            <c:idx val="1"/>
            <c:invertIfNegative val="0"/>
            <c:bubble3D val="0"/>
            <c:spPr>
              <a:solidFill>
                <a:srgbClr val="7B1FA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E1C-4657-8342-0C00209BCC9F}"/>
              </c:ext>
            </c:extLst>
          </c:dPt>
          <c:dPt>
            <c:idx val="2"/>
            <c:invertIfNegative val="0"/>
            <c:bubble3D val="0"/>
            <c:spPr>
              <a:solidFill>
                <a:srgbClr val="AB47B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E1C-4657-8342-0C00209BCC9F}"/>
              </c:ext>
            </c:extLst>
          </c:dPt>
          <c:dPt>
            <c:idx val="3"/>
            <c:invertIfNegative val="0"/>
            <c:bubble3D val="0"/>
            <c:spPr>
              <a:solidFill>
                <a:srgbClr val="5C6B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E1C-4657-8342-0C00209BCC9F}"/>
              </c:ext>
            </c:extLst>
          </c:dPt>
          <c:dPt>
            <c:idx val="4"/>
            <c:invertIfNegative val="0"/>
            <c:bubble3D val="0"/>
            <c:spPr>
              <a:solidFill>
                <a:srgbClr val="0083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E1C-4657-8342-0C00209BCC9F}"/>
              </c:ext>
            </c:extLst>
          </c:dPt>
          <c:dPt>
            <c:idx val="5"/>
            <c:invertIfNegative val="0"/>
            <c:bubble3D val="0"/>
            <c:spPr>
              <a:solidFill>
                <a:srgbClr val="2E7D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E1C-4657-8342-0C00209BCC9F}"/>
              </c:ext>
            </c:extLst>
          </c:dPt>
          <c:dPt>
            <c:idx val="6"/>
            <c:invertIfNegative val="0"/>
            <c:bubble3D val="0"/>
            <c:spPr>
              <a:solidFill>
                <a:srgbClr val="E651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DE1C-4657-8342-0C00209BCC9F}"/>
              </c:ext>
            </c:extLst>
          </c:dPt>
          <c:dPt>
            <c:idx val="7"/>
            <c:invertIfNegative val="0"/>
            <c:bubble3D val="0"/>
            <c:spPr>
              <a:solidFill>
                <a:srgbClr val="F57F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DE1C-4657-8342-0C00209BCC9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Combo Meal</c:v>
                </c:pt>
                <c:pt idx="1">
                  <c:v>Pizza</c:v>
                </c:pt>
                <c:pt idx="2">
                  <c:v>Pasta</c:v>
                </c:pt>
                <c:pt idx="3">
                  <c:v>Burger</c:v>
                </c:pt>
                <c:pt idx="4">
                  <c:v>Sandwich</c:v>
                </c:pt>
                <c:pt idx="5">
                  <c:v>Cold Coffee</c:v>
                </c:pt>
                <c:pt idx="6">
                  <c:v>French Fries</c:v>
                </c:pt>
                <c:pt idx="7">
                  <c:v>Lemonade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115</c:v>
                </c:pt>
                <c:pt idx="1">
                  <c:v>85</c:v>
                </c:pt>
                <c:pt idx="2">
                  <c:v>76</c:v>
                </c:pt>
                <c:pt idx="3">
                  <c:v>57</c:v>
                </c:pt>
                <c:pt idx="4">
                  <c:v>49</c:v>
                </c:pt>
                <c:pt idx="5">
                  <c:v>39</c:v>
                </c:pt>
                <c:pt idx="6">
                  <c:v>37</c:v>
                </c:pt>
                <c:pt idx="7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DE1C-4657-8342-0C00209BCC9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68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DF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68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Profit Margin % by Product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Margin %</c:v>
                </c:pt>
              </c:strCache>
            </c:strRef>
          </c:tx>
          <c:spPr>
            <a:solidFill>
              <a:srgbClr val="E91E8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Lemonade</c:v>
                </c:pt>
                <c:pt idx="1">
                  <c:v>Cold Coffee</c:v>
                </c:pt>
                <c:pt idx="2">
                  <c:v>French Fries</c:v>
                </c:pt>
                <c:pt idx="3">
                  <c:v>Sandwich</c:v>
                </c:pt>
                <c:pt idx="4">
                  <c:v>Pizza</c:v>
                </c:pt>
                <c:pt idx="5">
                  <c:v>Burger</c:v>
                </c:pt>
                <c:pt idx="6">
                  <c:v>Pasta</c:v>
                </c:pt>
                <c:pt idx="7">
                  <c:v>Combo Meal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58.44</c:v>
                </c:pt>
                <c:pt idx="1">
                  <c:v>53.96</c:v>
                </c:pt>
                <c:pt idx="2">
                  <c:v>50.97</c:v>
                </c:pt>
                <c:pt idx="3">
                  <c:v>44.6</c:v>
                </c:pt>
                <c:pt idx="4">
                  <c:v>44.05</c:v>
                </c:pt>
                <c:pt idx="5">
                  <c:v>43.62</c:v>
                </c:pt>
                <c:pt idx="6">
                  <c:v>39.950000000000003</c:v>
                </c:pt>
                <c:pt idx="7">
                  <c:v>38.04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FE-481A-9CC8-7F8C3A86E7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68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DF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68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Revenue Lost to Discounts (K)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Discount Impact (K)</c:v>
                </c:pt>
              </c:strCache>
            </c:strRef>
          </c:tx>
          <c:spPr>
            <a:solidFill>
              <a:srgbClr val="E91E8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Combo Meal</c:v>
                </c:pt>
                <c:pt idx="1">
                  <c:v>Pasta</c:v>
                </c:pt>
                <c:pt idx="2">
                  <c:v>Burger</c:v>
                </c:pt>
                <c:pt idx="3">
                  <c:v>Pizza</c:v>
                </c:pt>
                <c:pt idx="4">
                  <c:v>Sandwich</c:v>
                </c:pt>
                <c:pt idx="5">
                  <c:v>Cold Coffee</c:v>
                </c:pt>
                <c:pt idx="6">
                  <c:v>French Fries</c:v>
                </c:pt>
                <c:pt idx="7">
                  <c:v>Lemonade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11.7</c:v>
                </c:pt>
                <c:pt idx="1">
                  <c:v>7.7</c:v>
                </c:pt>
                <c:pt idx="2">
                  <c:v>7.3</c:v>
                </c:pt>
                <c:pt idx="3">
                  <c:v>6.5</c:v>
                </c:pt>
                <c:pt idx="4">
                  <c:v>5.3</c:v>
                </c:pt>
                <c:pt idx="5">
                  <c:v>4.0999999999999996</c:v>
                </c:pt>
                <c:pt idx="6">
                  <c:v>3.3</c:v>
                </c:pt>
                <c:pt idx="7">
                  <c:v>2.6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11-4215-96E4-1D86DDD01A0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68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DF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68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Units Sold vs. Profit Margin % (Scatter)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 %</c:v>
                </c:pt>
              </c:strCache>
            </c:strRef>
          </c:tx>
          <c:spPr>
            <a:ln w="25400" cap="flat">
              <a:solidFill>
                <a:srgbClr val="6B2D8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B2D8B"/>
              </a:solidFill>
              <a:ln w="9525" cap="flat">
                <a:solidFill>
                  <a:srgbClr val="6B2D8B"/>
                </a:solidFill>
                <a:prstDash val="solid"/>
                <a:round/>
              </a:ln>
              <a:effectLst/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401</c:v>
                </c:pt>
                <c:pt idx="1">
                  <c:v>396</c:v>
                </c:pt>
                <c:pt idx="2">
                  <c:v>388</c:v>
                </c:pt>
                <c:pt idx="3">
                  <c:v>382</c:v>
                </c:pt>
                <c:pt idx="4">
                  <c:v>367</c:v>
                </c:pt>
                <c:pt idx="5">
                  <c:v>360</c:v>
                </c:pt>
                <c:pt idx="6">
                  <c:v>355</c:v>
                </c:pt>
                <c:pt idx="7">
                  <c:v>330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50.97</c:v>
                </c:pt>
                <c:pt idx="1">
                  <c:v>38.04</c:v>
                </c:pt>
                <c:pt idx="2">
                  <c:v>44.6</c:v>
                </c:pt>
                <c:pt idx="3">
                  <c:v>39.950000000000003</c:v>
                </c:pt>
                <c:pt idx="4">
                  <c:v>44.05</c:v>
                </c:pt>
                <c:pt idx="5">
                  <c:v>43.62</c:v>
                </c:pt>
                <c:pt idx="6">
                  <c:v>53.96</c:v>
                </c:pt>
                <c:pt idx="7">
                  <c:v>58.44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ECB-4426-B7A3-428280965A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DFF0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68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DF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68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Profit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218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CD3-4EC5-BBA0-4DF837F86AA8}"/>
              </c:ext>
            </c:extLst>
          </c:dPt>
          <c:dPt>
            <c:idx val="1"/>
            <c:bubble3D val="0"/>
            <c:spPr>
              <a:solidFill>
                <a:srgbClr val="7B1FA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CD3-4EC5-BBA0-4DF837F86AA8}"/>
              </c:ext>
            </c:extLst>
          </c:dPt>
          <c:dPt>
            <c:idx val="2"/>
            <c:bubble3D val="0"/>
            <c:spPr>
              <a:solidFill>
                <a:srgbClr val="AB47B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CD3-4EC5-BBA0-4DF837F86AA8}"/>
              </c:ext>
            </c:extLst>
          </c:dPt>
          <c:dPt>
            <c:idx val="3"/>
            <c:bubble3D val="0"/>
            <c:spPr>
              <a:solidFill>
                <a:srgbClr val="5C6B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CD3-4EC5-BBA0-4DF837F86AA8}"/>
              </c:ext>
            </c:extLst>
          </c:dPt>
          <c:dPt>
            <c:idx val="4"/>
            <c:bubble3D val="0"/>
            <c:spPr>
              <a:solidFill>
                <a:srgbClr val="0083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CD3-4EC5-BBA0-4DF837F86AA8}"/>
              </c:ext>
            </c:extLst>
          </c:dPt>
          <c:dPt>
            <c:idx val="5"/>
            <c:bubble3D val="0"/>
            <c:spPr>
              <a:solidFill>
                <a:srgbClr val="2E7D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CD3-4EC5-BBA0-4DF837F86AA8}"/>
              </c:ext>
            </c:extLst>
          </c:dPt>
          <c:dPt>
            <c:idx val="6"/>
            <c:bubble3D val="0"/>
            <c:spPr>
              <a:solidFill>
                <a:srgbClr val="E651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3CD3-4EC5-BBA0-4DF837F86AA8}"/>
              </c:ext>
            </c:extLst>
          </c:dPt>
          <c:dPt>
            <c:idx val="7"/>
            <c:bubble3D val="0"/>
            <c:spPr>
              <a:solidFill>
                <a:srgbClr val="F57F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3CD3-4EC5-BBA0-4DF837F86AA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CD3-4EC5-BBA0-4DF837F86AA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CD3-4EC5-BBA0-4DF837F86AA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CD3-4EC5-BBA0-4DF837F86AA8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CD3-4EC5-BBA0-4DF837F86AA8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CD3-4EC5-BBA0-4DF837F86AA8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CD3-4EC5-BBA0-4DF837F86AA8}"/>
                </c:ext>
              </c:extLst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3CD3-4EC5-BBA0-4DF837F86AA8}"/>
                </c:ext>
              </c:extLst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3CD3-4EC5-BBA0-4DF837F86AA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Sheet1!$A$2:$A$9</c:f>
              <c:strCache>
                <c:ptCount val="8"/>
                <c:pt idx="0">
                  <c:v>Combo Meal</c:v>
                </c:pt>
                <c:pt idx="1">
                  <c:v>Pizza</c:v>
                </c:pt>
                <c:pt idx="2">
                  <c:v>Pasta</c:v>
                </c:pt>
                <c:pt idx="3">
                  <c:v>Burger</c:v>
                </c:pt>
                <c:pt idx="4">
                  <c:v>Sandwich</c:v>
                </c:pt>
                <c:pt idx="5">
                  <c:v>Cold Coffee</c:v>
                </c:pt>
                <c:pt idx="6">
                  <c:v>French Fries</c:v>
                </c:pt>
                <c:pt idx="7">
                  <c:v>Lemonade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44</c:v>
                </c:pt>
                <c:pt idx="1">
                  <c:v>38</c:v>
                </c:pt>
                <c:pt idx="2">
                  <c:v>31</c:v>
                </c:pt>
                <c:pt idx="3">
                  <c:v>25</c:v>
                </c:pt>
                <c:pt idx="4">
                  <c:v>22</c:v>
                </c:pt>
                <c:pt idx="5">
                  <c:v>21</c:v>
                </c:pt>
                <c:pt idx="6">
                  <c:v>19</c:v>
                </c:pt>
                <c:pt idx="7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3CD3-4EC5-BBA0-4DF837F86A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8F0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9799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0A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6B2D8B">
              <a:alpha val="40000"/>
            </a:srgbClr>
          </a:solidFill>
          <a:ln w="12700">
            <a:solidFill>
              <a:srgbClr val="6B2D8B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926080"/>
            <a:ext cx="2286000" cy="2286000"/>
          </a:xfrm>
          <a:prstGeom prst="ellipse">
            <a:avLst/>
          </a:prstGeom>
          <a:solidFill>
            <a:srgbClr val="E91E8C">
              <a:alpha val="30000"/>
            </a:srgbClr>
          </a:solidFill>
          <a:ln w="12700">
            <a:solidFill>
              <a:srgbClr val="E91E8C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182880"/>
            <a:ext cx="1371600" cy="1371600"/>
          </a:xfrm>
          <a:prstGeom prst="ellipse">
            <a:avLst/>
          </a:prstGeom>
          <a:solidFill>
            <a:srgbClr val="B784C8">
              <a:alpha val="35000"/>
            </a:srgbClr>
          </a:solidFill>
          <a:ln w="12700">
            <a:solidFill>
              <a:srgbClr val="B784C8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144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TastyBites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B78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Performance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0" y="2286000"/>
            <a:ext cx="2743200" cy="36576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8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Insights &amp; Recommendations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6B2D8B">
              <a:alpha val="70000"/>
            </a:srgbClr>
          </a:solidFill>
          <a:ln w="12700">
            <a:solidFill>
              <a:srgbClr val="B784C8">
                <a:alpha val="5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3832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482K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8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0" y="3291840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6B2D8B">
              <a:alpha val="70000"/>
            </a:srgbClr>
          </a:solidFill>
          <a:ln w="12700">
            <a:solidFill>
              <a:srgbClr val="B784C8">
                <a:alpha val="5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60320" y="33832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212K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560320" y="39319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8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3291840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6B2D8B">
              <a:alpha val="70000"/>
            </a:srgbClr>
          </a:solidFill>
          <a:ln w="12700">
            <a:solidFill>
              <a:srgbClr val="B784C8">
                <a:alpha val="5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33832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663440" y="39319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8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0" y="3291840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6B2D8B">
              <a:alpha val="70000"/>
            </a:srgbClr>
          </a:solidFill>
          <a:ln w="12700">
            <a:solidFill>
              <a:srgbClr val="B784C8">
                <a:alpha val="5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66560" y="33832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2,979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766560" y="39319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8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Period: Past 2 Years  |  June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0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Q1. Revenue &amp; Profit Leaders by Product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77240"/>
          <a:ext cx="53035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669280" y="777240"/>
          <a:ext cx="32004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4206240"/>
            <a:ext cx="8595360" cy="777240"/>
          </a:xfrm>
          <a:prstGeom prst="roundRect">
            <a:avLst>
              <a:gd name="adj" fmla="val 9412"/>
            </a:avLst>
          </a:prstGeom>
          <a:solidFill>
            <a:srgbClr val="EDD9F7"/>
          </a:solidFill>
          <a:ln w="12700">
            <a:solidFill>
              <a:srgbClr val="B784C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57200" y="42519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Key Insight: </a:t>
            </a:r>
            <a:r>
              <a:rPr lang="en-US" sz="1100" dirty="0">
                <a:solidFill>
                  <a:srgbClr val="2D0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 Meal leads in revenue (115K) but has the lowest margin (38%). Lemonade &amp; Cold Coffee have the highest margins (58% &amp; 54%) despite lower revenue. Dual opportunity exists to scale high-margin drinks.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0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Q2. How Discounts Affect Profitability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77240"/>
          <a:ext cx="50292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486400" y="914400"/>
            <a:ext cx="33832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B784C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577840" y="9601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B2D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48.42K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577840" y="144475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0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Lost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577840" y="162763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6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Discounts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0" y="2057400"/>
            <a:ext cx="33832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B784C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577840" y="21031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B2D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10.0%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5577840" y="258775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0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Discount Rate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577840" y="277063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6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products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0" y="3200400"/>
            <a:ext cx="33832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B784C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577840" y="32461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B2D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Combo Meal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5577840" y="373075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0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Loss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577840" y="391363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6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11.7K in discounts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74320" y="4206240"/>
            <a:ext cx="8595360" cy="777240"/>
          </a:xfrm>
          <a:prstGeom prst="roundRect">
            <a:avLst>
              <a:gd name="adj" fmla="val 9412"/>
            </a:avLst>
          </a:prstGeom>
          <a:solidFill>
            <a:srgbClr val="EDD9F7"/>
          </a:solidFill>
          <a:ln w="12700">
            <a:solidFill>
              <a:srgbClr val="B784C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42519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Alert: </a:t>
            </a:r>
            <a:r>
              <a:rPr lang="en-US" sz="1100" dirty="0">
                <a:solidFill>
                  <a:srgbClr val="2D0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 Meal absorbs 24% of all discount losses (11.7K/48.42K). Since its margin is already the lowest at 38%, further discounting erodes profitability severely. Discounts on Lemonade/Cold Coffee are relatively safe given their 54–58% margins.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0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Q3. High Volume, Low Profit — The Profitability Trap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77240"/>
          <a:ext cx="53035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777240"/>
          <a:ext cx="3291840" cy="3160776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D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D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D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D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Combo Meal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38.04%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Volume trap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39.95%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Needs review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Burger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43.62%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Acceptable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Pizza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44.05%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Acceptable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French Fries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50.97%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Efficient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Lemonade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58.44%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🌟 High value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 Coffee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53.96%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🌟 High value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Sandwich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44.60%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Acceptable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4206240"/>
            <a:ext cx="8595360" cy="777240"/>
          </a:xfrm>
          <a:prstGeom prst="roundRect">
            <a:avLst>
              <a:gd name="adj" fmla="val 9412"/>
            </a:avLst>
          </a:prstGeom>
          <a:solidFill>
            <a:srgbClr val="EDD9F7"/>
          </a:solidFill>
          <a:ln w="12700">
            <a:solidFill>
              <a:srgbClr val="B784C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57200" y="42519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Finding: </a:t>
            </a:r>
            <a:r>
              <a:rPr lang="en-US" sz="1100" dirty="0">
                <a:solidFill>
                  <a:srgbClr val="2D0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 Meal &amp; Pasta sell well (396 &amp; 382 units) but deliver the weakest margins (38% &amp; 40%). Despite high volume, they generate less profit per unit. Optimization of their cost structure or pricing is recommended.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0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Profit Contribution by Product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77240"/>
          <a:ext cx="41148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663440" y="822960"/>
            <a:ext cx="4206240" cy="1051560"/>
          </a:xfrm>
          <a:prstGeom prst="roundRect">
            <a:avLst>
              <a:gd name="adj" fmla="val 8696"/>
            </a:avLst>
          </a:prstGeom>
          <a:solidFill>
            <a:srgbClr val="EDD9F7"/>
          </a:solidFill>
          <a:ln w="12700">
            <a:solidFill>
              <a:srgbClr val="B784C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800600" y="87782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2D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🏆 Top Profit Contributor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800600" y="11887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0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 Meal leads with 44K (20.6%) of total profit — primarily from volume despite low margin.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663440" y="1965960"/>
            <a:ext cx="4206240" cy="1051560"/>
          </a:xfrm>
          <a:prstGeom prst="roundRect">
            <a:avLst>
              <a:gd name="adj" fmla="val 8696"/>
            </a:avLst>
          </a:prstGeom>
          <a:solidFill>
            <a:srgbClr val="EDD9F7"/>
          </a:solidFill>
          <a:ln w="12700">
            <a:solidFill>
              <a:srgbClr val="B784C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00600" y="202082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2D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📈 Most Profitable per Unit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800600" y="23317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0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Lemonade &amp; Cold Coffee earn the most per sale. They contribute 14K &amp; 21K respectively on fewer units.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663440" y="3108960"/>
            <a:ext cx="4206240" cy="1051560"/>
          </a:xfrm>
          <a:prstGeom prst="roundRect">
            <a:avLst>
              <a:gd name="adj" fmla="val 8696"/>
            </a:avLst>
          </a:prstGeom>
          <a:solidFill>
            <a:srgbClr val="EDD9F7"/>
          </a:solidFill>
          <a:ln w="12700">
            <a:solidFill>
              <a:srgbClr val="B784C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800600" y="316382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2D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⚡ Scaling Opportunity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00600" y="34747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0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Cold Coffee &amp; Lemonade volume was 30% higher, total profit could increase by ~10K without margin changes.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A6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Profit: 212K across all products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0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Q4. Price Adjustment Opportunities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Constraint: Customers are sensitive to price increases above 10% — adjustments must stay within this band.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7772400" cy="3456432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D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Margin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D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Adj. Safe?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D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 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D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Gain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D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Combo Meal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38.04%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 (up to 10%)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Raise price by 5-8%; reduce discount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+6–9K profit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39.95%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 (up to 10%)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price increase + cost review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+4–6K profit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Lemonade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58.44%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 (up to 10%)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pricing — already strong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Hold/expand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 Coffee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53.96%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 (up to 10%)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Promote more; minor upsell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+3–5K profit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French Fries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50.97%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Borderline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Maintain; use as upsell pairing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Bundle gains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43.62%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Slight price lift; reduce discounting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+3K profit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Sandwich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44.60%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build + small price increase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+3K profit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Pizza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44.05%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Sensitive item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Caution — high price sensitivity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change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A6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10% price sensitivity cap per business constraint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0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Q5. Promotion &amp; Bundling Strategies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976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B784C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383280" y="832104"/>
            <a:ext cx="1115568" cy="256032"/>
          </a:xfrm>
          <a:prstGeom prst="roundRect">
            <a:avLst>
              <a:gd name="adj" fmla="val 17857"/>
            </a:avLst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01568" y="84124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84048" y="85039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2D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🍟+🥤 Bundle: Fries + Drink Upsell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84048" y="1216152"/>
            <a:ext cx="407822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0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French Fries (51% margin) with Lemonade or Cold Coffee (54–58% margin). Offer combo at 8% discount. Both items have high margins, so bundled revenue is still profitable.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46320" y="736092"/>
            <a:ext cx="42976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B784C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863840" y="832104"/>
            <a:ext cx="1115568" cy="256032"/>
          </a:xfrm>
          <a:prstGeom prst="roundRect">
            <a:avLst>
              <a:gd name="adj" fmla="val 17857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82128" y="84124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IMPACT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864608" y="85039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2D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🍕+🥤 Pizza Meal Deal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64608" y="1216152"/>
            <a:ext cx="407822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0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Cold Coffee or Lemonade to Pizza orders at a 5% discount. Pizza is price-sensitive; the drink adds margin. Avg order value increases by ~₹40–60.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" y="2212848"/>
            <a:ext cx="42976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B784C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83280" y="2295144"/>
            <a:ext cx="1115568" cy="256032"/>
          </a:xfrm>
          <a:prstGeom prst="roundRect">
            <a:avLst>
              <a:gd name="adj" fmla="val 17857"/>
            </a:avLst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1568" y="230428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84048" y="231343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2D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🎁 Loyalty-Tier Promotions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84048" y="2679192"/>
            <a:ext cx="407822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0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tiered rewards: 10th order = free Lemonade (58% margin). Incentivizes repeat visits while giving away low-cost, high-margin items. Cost of reward is minimal.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2240280"/>
            <a:ext cx="42976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B784C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863840" y="2295144"/>
            <a:ext cx="1115568" cy="256032"/>
          </a:xfrm>
          <a:prstGeom prst="roundRect">
            <a:avLst>
              <a:gd name="adj" fmla="val 17857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82128" y="230428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DRIVER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864608" y="231343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2D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⏰ Happy Hour for High-Margin Drinks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64608" y="2679192"/>
            <a:ext cx="407822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0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3–6 PM promotions on Cold Coffee &amp; Lemonade at 10–12% discount. These items remain profitable even discounted; drives foot traffic during off-peak hours.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703320"/>
            <a:ext cx="85953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B784C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80960" y="3758184"/>
            <a:ext cx="1115568" cy="256032"/>
          </a:xfrm>
          <a:prstGeom prst="roundRect">
            <a:avLst>
              <a:gd name="adj" fmla="val 17857"/>
            </a:avLst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99248" y="376732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SAVING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84048" y="3776472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2D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🚫 Stop Discounting Combo Meal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84048" y="4142232"/>
            <a:ext cx="837590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0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 Meal already has the lowest margin (38%) and the highest discount loss (11.7K). Cap all Combo Meal discounts at 5% max per policy alignment.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0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Constraints &amp; Assumptions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B784C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60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📅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60120" y="960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2D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Availability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298448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0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is based on the past 2 years of sales data only. Seasonal patterns may not be fully represented without longer historical context.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2212848"/>
            <a:ext cx="3931920" cy="228600"/>
          </a:xfrm>
          <a:prstGeom prst="roundRect">
            <a:avLst>
              <a:gd name="adj" fmla="val 16000"/>
            </a:avLst>
          </a:prstGeom>
          <a:solidFill>
            <a:srgbClr val="EDD9F7"/>
          </a:solidFill>
          <a:ln w="12700">
            <a:solidFill>
              <a:srgbClr val="B784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2199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May miss long-term trends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822960"/>
            <a:ext cx="4206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B784C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960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🏷️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440680" y="960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2D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 Cap Policy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40680" y="1298448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0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cannot exceed 25% per company policy. All bundling and promotion strategies are designed to stay well within this limit (max 12%).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92040" y="2212848"/>
            <a:ext cx="3931920" cy="228600"/>
          </a:xfrm>
          <a:prstGeom prst="roundRect">
            <a:avLst>
              <a:gd name="adj" fmla="val 16000"/>
            </a:avLst>
          </a:prstGeom>
          <a:solidFill>
            <a:srgbClr val="EDD9F7"/>
          </a:solidFill>
          <a:ln w="12700">
            <a:solidFill>
              <a:srgbClr val="B784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222199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Protects margin floor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743200"/>
            <a:ext cx="4206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B784C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60120" y="28803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2D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 Definition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218688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0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= Revenue – Cost of Goods Sold. Delivery costs, operational overheads, and marketing expenses are excluded from this model.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4133088"/>
            <a:ext cx="3931920" cy="228600"/>
          </a:xfrm>
          <a:prstGeom prst="roundRect">
            <a:avLst>
              <a:gd name="adj" fmla="val 16000"/>
            </a:avLst>
          </a:prstGeom>
          <a:solidFill>
            <a:srgbClr val="EDD9F7"/>
          </a:solidFill>
          <a:ln w="12700">
            <a:solidFill>
              <a:srgbClr val="B784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1422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Actual net profit may be lower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743200"/>
            <a:ext cx="4206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B784C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9204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🛍️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440680" y="28803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2D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Price Sensitivity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40680" y="3218688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0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are assumed to be sensitive to price changes above 10%. All price adjustment recommendations are capped at +5–10% to stay within acceptable limits.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92040" y="4133088"/>
            <a:ext cx="3931920" cy="228600"/>
          </a:xfrm>
          <a:prstGeom prst="roundRect">
            <a:avLst>
              <a:gd name="adj" fmla="val 16000"/>
            </a:avLst>
          </a:prstGeom>
          <a:solidFill>
            <a:srgbClr val="EDD9F7"/>
          </a:solidFill>
          <a:ln w="12700">
            <a:solidFill>
              <a:srgbClr val="B784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41422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Bounds all pricing suggestions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0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Action Plan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457200"/>
          </a:xfrm>
          <a:prstGeom prst="roundRect">
            <a:avLst>
              <a:gd name="adj" fmla="val 24000"/>
            </a:avLst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4124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1: 30 Days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743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91E8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18488"/>
            <a:ext cx="274320" cy="274320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184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04088" y="1508760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0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Combo Meal discounts at max 5%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194560"/>
            <a:ext cx="2743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91E8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395728"/>
            <a:ext cx="274320" cy="274320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3957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04088" y="2286000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0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Fries + Drink bundle at 8% off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2743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91E8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172968"/>
            <a:ext cx="274320" cy="274320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1729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04088" y="3063240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0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Combo Meal price by 5%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0" y="822960"/>
            <a:ext cx="2743200" cy="457200"/>
          </a:xfrm>
          <a:prstGeom prst="roundRect">
            <a:avLst>
              <a:gd name="adj" fmla="val 24000"/>
            </a:avLst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84124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2: 60 Days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0" y="1417320"/>
            <a:ext cx="2743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6B2D8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1618488"/>
            <a:ext cx="274320" cy="274320"/>
          </a:xfrm>
          <a:prstGeom prst="ellipse">
            <a:avLst/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16184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30168" y="1508760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0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Happy Hour for Cold Coffee &amp; Lemonade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0" y="2194560"/>
            <a:ext cx="2743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6B2D8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2395728"/>
            <a:ext cx="274320" cy="274320"/>
          </a:xfrm>
          <a:prstGeom prst="ellipse">
            <a:avLst/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23957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30168" y="2286000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0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Pizza Meal Deal promotion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0" y="2971800"/>
            <a:ext cx="2743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6B2D8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91840" y="3172968"/>
            <a:ext cx="274320" cy="274320"/>
          </a:xfrm>
          <a:prstGeom prst="ellipse">
            <a:avLst/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31729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30168" y="3063240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0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Pasta cost structure for margin gains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26480" y="822960"/>
            <a:ext cx="2743200" cy="457200"/>
          </a:xfrm>
          <a:prstGeom prst="roundRect">
            <a:avLst>
              <a:gd name="adj" fmla="val 24000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84124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3: 90 Days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126480" y="1417320"/>
            <a:ext cx="2743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0838F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17920" y="1618488"/>
            <a:ext cx="274320" cy="27432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16184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556248" y="1508760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0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loyalty tier rewards (free Lemonade)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26480" y="2194560"/>
            <a:ext cx="2743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0838F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17920" y="2395728"/>
            <a:ext cx="274320" cy="27432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23957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556248" y="2286000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0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marketing spend on high-margin drinks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126480" y="2971800"/>
            <a:ext cx="2743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0838F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217920" y="3172968"/>
            <a:ext cx="274320" cy="27432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17920" y="31729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556248" y="3063240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0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price adjustments based on demand data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74320" y="4206240"/>
            <a:ext cx="8595360" cy="777240"/>
          </a:xfrm>
          <a:prstGeom prst="roundRect">
            <a:avLst>
              <a:gd name="adj" fmla="val 9412"/>
            </a:avLst>
          </a:prstGeom>
          <a:solidFill>
            <a:srgbClr val="2D0A3E"/>
          </a:solidFill>
          <a:ln w="12700">
            <a:solidFill>
              <a:srgbClr val="2D0A3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2519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8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Expected Outcome: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all phases could recover 15–20K in discount-eroded revenue and add 8–12K in profit through smarter pricing and bundling — a 6–9% profitability improvement.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0A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914400" y="3200400"/>
            <a:ext cx="2286000" cy="2286000"/>
          </a:xfrm>
          <a:prstGeom prst="ellipse">
            <a:avLst/>
          </a:prstGeom>
          <a:solidFill>
            <a:srgbClr val="E91E8C">
              <a:alpha val="30000"/>
            </a:srgbClr>
          </a:solidFill>
          <a:ln w="12700">
            <a:solidFill>
              <a:srgbClr val="E91E8C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B78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TastyBites Strategic Summary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411480" cy="411480"/>
          </a:xfrm>
          <a:prstGeom prst="ellipse">
            <a:avLst/>
          </a:prstGeom>
          <a:solidFill>
            <a:srgbClr val="E91E8C">
              <a:alpha val="80000"/>
            </a:srgbClr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25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280160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 Meal drives volume but is the least profitable product — needs pricing &amp; discount correction.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2029968"/>
            <a:ext cx="411480" cy="411480"/>
          </a:xfrm>
          <a:prstGeom prst="ellipse">
            <a:avLst/>
          </a:prstGeom>
          <a:solidFill>
            <a:srgbClr val="B784C8">
              <a:alpha val="80000"/>
            </a:srgbClr>
          </a:solidFill>
          <a:ln w="12700">
            <a:solidFill>
              <a:srgbClr val="B784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0299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1984248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Lemonade &amp; Cold Coffee are goldmines — highest margins, underpriced, and undersold.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2734056"/>
            <a:ext cx="411480" cy="411480"/>
          </a:xfrm>
          <a:prstGeom prst="ellipse">
            <a:avLst/>
          </a:prstGeom>
          <a:solidFill>
            <a:srgbClr val="F57F17">
              <a:alpha val="80000"/>
            </a:srgbClr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7340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2688336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48.42K was lost to discounts — a 5% reduction in discounting on low-margin items recovers ~5K.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3438144"/>
            <a:ext cx="411480" cy="411480"/>
          </a:xfrm>
          <a:prstGeom prst="ellipse">
            <a:avLst/>
          </a:prstGeom>
          <a:solidFill>
            <a:srgbClr val="00838F">
              <a:alpha val="80000"/>
            </a:srgbClr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43814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3392424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Bundling high-margin drinks with food items is the fastest path to improving average order value.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4142232"/>
            <a:ext cx="411480" cy="411480"/>
          </a:xfrm>
          <a:prstGeom prst="ellipse">
            <a:avLst/>
          </a:prstGeom>
          <a:solidFill>
            <a:srgbClr val="2E7D32">
              <a:alpha val="8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41422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4096512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90-day action plan can deliver a 6–9% profitability improvement.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38328"/>
          </a:xfrm>
          <a:prstGeom prst="rect">
            <a:avLst/>
          </a:prstGeom>
          <a:solidFill>
            <a:srgbClr val="6B2D8B">
              <a:alpha val="60000"/>
            </a:srgbClr>
          </a:solidFill>
          <a:ln w="12700">
            <a:solidFill>
              <a:srgbClr val="6B2D8B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0" y="4828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TastyBites  |  Business Intelligence Report  |  June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</TotalTime>
  <Words>1154</Words>
  <Application>Microsoft Office PowerPoint</Application>
  <PresentationFormat>On-screen Show (16:9)</PresentationFormat>
  <Paragraphs>210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TastyBites Business Analysis</dc:title>
  <dc:subject>PptxGenJS Presentation</dc:subject>
  <dc:creator>PptxGenJS</dc:creator>
  <cp:lastModifiedBy>Rishabh Bansal</cp:lastModifiedBy>
  <cp:revision>2</cp:revision>
  <dcterms:created xsi:type="dcterms:W3CDTF">2026-06-12T12:44:36Z</dcterms:created>
  <dcterms:modified xsi:type="dcterms:W3CDTF">2026-06-13T03:44:35Z</dcterms:modified>
</cp:coreProperties>
</file>